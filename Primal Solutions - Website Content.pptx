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21" r:id="rId5"/>
  </p:sldMasterIdLst>
  <p:notesMasterIdLst>
    <p:notesMasterId r:id="rId21"/>
  </p:notesMasterIdLst>
  <p:handoutMasterIdLst>
    <p:handoutMasterId r:id="rId22"/>
  </p:handoutMasterIdLst>
  <p:sldIdLst>
    <p:sldId id="790" r:id="rId6"/>
    <p:sldId id="826" r:id="rId7"/>
    <p:sldId id="792" r:id="rId8"/>
    <p:sldId id="793" r:id="rId9"/>
    <p:sldId id="794" r:id="rId10"/>
    <p:sldId id="264" r:id="rId11"/>
    <p:sldId id="830" r:id="rId12"/>
    <p:sldId id="829" r:id="rId13"/>
    <p:sldId id="836" r:id="rId14"/>
    <p:sldId id="837" r:id="rId15"/>
    <p:sldId id="835" r:id="rId16"/>
    <p:sldId id="838" r:id="rId17"/>
    <p:sldId id="839" r:id="rId18"/>
    <p:sldId id="840" r:id="rId19"/>
    <p:sldId id="841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orient="horz" pos="16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EA1A1F-5615-81E2-8619-34BC6951410C}" name="Ashok S" initials="AS" userId="fb077d6fe16dde3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A77"/>
    <a:srgbClr val="FFFBEF"/>
    <a:srgbClr val="FF4B21"/>
    <a:srgbClr val="FFE79B"/>
    <a:srgbClr val="000273"/>
    <a:srgbClr val="FFFFFF"/>
    <a:srgbClr val="FFCE33"/>
    <a:srgbClr val="FFF5D5"/>
    <a:srgbClr val="ACDCF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052" y="44"/>
      </p:cViewPr>
      <p:guideLst>
        <p:guide orient="horz" pos="1956"/>
        <p:guide pos="408"/>
        <p:guide orient="horz" pos="3912"/>
        <p:guide pos="7287"/>
        <p:guide orient="horz" pos="1638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42" d="100"/>
          <a:sy n="42" d="100"/>
        </p:scale>
        <p:origin x="280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9277A100-E7BD-F13C-7AB7-9B3DDE98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>
            <a:extLst>
              <a:ext uri="{FF2B5EF4-FFF2-40B4-BE49-F238E27FC236}">
                <a16:creationId xmlns:a16="http://schemas.microsoft.com/office/drawing/2014/main" id="{4CD426BF-CCCA-2096-63C7-941978DA3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>
            <a:extLst>
              <a:ext uri="{FF2B5EF4-FFF2-40B4-BE49-F238E27FC236}">
                <a16:creationId xmlns:a16="http://schemas.microsoft.com/office/drawing/2014/main" id="{2AA62C12-7E76-4709-DF33-DAE64F083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2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561;p9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Google Shape;562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956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et contenu">
  <p:cSld name="1_Titre et contenu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7988" y="404813"/>
            <a:ext cx="11016604" cy="8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453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79020"/>
            <a:ext cx="2844800" cy="365125"/>
          </a:xfrm>
        </p:spPr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679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29" y="55572"/>
            <a:ext cx="9975273" cy="77114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327" y="1122364"/>
            <a:ext cx="10280073" cy="500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59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24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29" y="55572"/>
            <a:ext cx="9975273" cy="77114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604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29" y="55572"/>
            <a:ext cx="9975273" cy="7711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4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29" y="55572"/>
            <a:ext cx="9975273" cy="77114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507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/>
          <p:cNvCxnSpPr/>
          <p:nvPr/>
        </p:nvCxnSpPr>
        <p:spPr>
          <a:xfrm>
            <a:off x="-9522" y="892175"/>
            <a:ext cx="1220470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08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331185"/>
            <a:ext cx="4011084" cy="873065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331393"/>
            <a:ext cx="6815667" cy="483728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2278304"/>
            <a:ext cx="4011084" cy="3876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808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066802"/>
            <a:ext cx="7315200" cy="3660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94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29" y="55572"/>
            <a:ext cx="9975273" cy="77114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2327" y="1122364"/>
            <a:ext cx="10280073" cy="5003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583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90600"/>
            <a:ext cx="2743200" cy="51355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90600"/>
            <a:ext cx="8026400" cy="5135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5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FD3FD-DC93-6E83-F611-366EEFC3EAFA}"/>
              </a:ext>
            </a:extLst>
          </p:cNvPr>
          <p:cNvSpPr/>
          <p:nvPr userDrawn="1"/>
        </p:nvSpPr>
        <p:spPr>
          <a:xfrm>
            <a:off x="0" y="6492875"/>
            <a:ext cx="10696353" cy="365125"/>
          </a:xfrm>
          <a:prstGeom prst="rect">
            <a:avLst/>
          </a:prstGeom>
          <a:solidFill>
            <a:srgbClr val="ACDCF2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B6182-B729-9311-9273-0A4FD838AAD5}"/>
              </a:ext>
            </a:extLst>
          </p:cNvPr>
          <p:cNvSpPr/>
          <p:nvPr userDrawn="1"/>
        </p:nvSpPr>
        <p:spPr>
          <a:xfrm>
            <a:off x="9069573" y="6655981"/>
            <a:ext cx="3122428" cy="235097"/>
          </a:xfrm>
          <a:prstGeom prst="rect">
            <a:avLst/>
          </a:prstGeom>
          <a:solidFill>
            <a:srgbClr val="ACDCF2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-2931086" y="6478245"/>
            <a:ext cx="9805947" cy="4156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spc="300" dirty="0">
                <a:solidFill>
                  <a:srgbClr val="002060"/>
                </a:solidFill>
              </a:rPr>
              <a:t>BUSINESS STRATEGIC PLAN – Q4FY26</a:t>
            </a: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691" r:id="rId14"/>
    <p:sldLayoutId id="214748373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9287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C76BD-CAF9-4B88-9E81-7908AB6241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558" y="121661"/>
            <a:ext cx="696188" cy="62648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-9522" y="892175"/>
            <a:ext cx="1220470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Description: Description: Description: Description: Description: Description: Description: Description: Description: cid:image001.png@01D0ADD0.B7125860">
            <a:extLst>
              <a:ext uri="{FF2B5EF4-FFF2-40B4-BE49-F238E27FC236}">
                <a16:creationId xmlns:a16="http://schemas.microsoft.com/office/drawing/2014/main" id="{EA7B303F-00B3-4064-80AF-A8D0BF49C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9" y="27710"/>
            <a:ext cx="1011382" cy="79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321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240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647E-D6CE-C7F8-800A-36EC0823F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749" y="2800349"/>
            <a:ext cx="11004698" cy="683420"/>
          </a:xfrm>
        </p:spPr>
        <p:txBody>
          <a:bodyPr/>
          <a:lstStyle/>
          <a:p>
            <a:r>
              <a:rPr lang="en-IN" sz="5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Website Content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65A11-B3F6-E87F-C89B-726C0F14B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83770"/>
            <a:ext cx="9144000" cy="683420"/>
          </a:xfrm>
        </p:spPr>
        <p:txBody>
          <a:bodyPr/>
          <a:lstStyle/>
          <a:p>
            <a:r>
              <a:rPr lang="en-IN" sz="4000" b="1" dirty="0">
                <a:solidFill>
                  <a:srgbClr val="002060"/>
                </a:solidFill>
              </a:rPr>
              <a:t>Primal Solutions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F181F-88DA-23B4-5204-9528DC160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5937AC-2748-87CA-8118-99B13168006B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AF95A46-2AD7-BAA4-9265-72BEE14A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50" y="176203"/>
            <a:ext cx="2729588" cy="77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3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>
          <a:extLst>
            <a:ext uri="{FF2B5EF4-FFF2-40B4-BE49-F238E27FC236}">
              <a16:creationId xmlns:a16="http://schemas.microsoft.com/office/drawing/2014/main" id="{FB2D666F-FD5C-C18C-CB7D-819CED14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1C808C16-1E79-BB8C-31EF-3D908062B4FD}"/>
              </a:ext>
            </a:extLst>
          </p:cNvPr>
          <p:cNvSpPr txBox="1"/>
          <p:nvPr/>
        </p:nvSpPr>
        <p:spPr>
          <a:xfrm>
            <a:off x="534373" y="3606859"/>
            <a:ext cx="2266948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Verdana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Chief Mentor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Business Excellence – Consultant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DGM Central Quality (</a:t>
            </a:r>
            <a:r>
              <a:rPr lang="en-US" sz="1400" b="1" dirty="0" err="1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Rtd</a:t>
            </a:r>
            <a:r>
              <a:rPr lang="en-US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.), Ashok Leyland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+91 98415 68728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Verdana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6" name="Google Shape;46;p1">
            <a:extLst>
              <a:ext uri="{FF2B5EF4-FFF2-40B4-BE49-F238E27FC236}">
                <a16:creationId xmlns:a16="http://schemas.microsoft.com/office/drawing/2014/main" id="{A93F36E2-7E94-0634-92DC-E7A090939CCA}"/>
              </a:ext>
            </a:extLst>
          </p:cNvPr>
          <p:cNvCxnSpPr/>
          <p:nvPr/>
        </p:nvCxnSpPr>
        <p:spPr>
          <a:xfrm>
            <a:off x="2970488" y="1221739"/>
            <a:ext cx="0" cy="491738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75CC69-8C28-ED22-E4F4-BF9EA4E8D60C}"/>
              </a:ext>
            </a:extLst>
          </p:cNvPr>
          <p:cNvSpPr txBox="1"/>
          <p:nvPr/>
        </p:nvSpPr>
        <p:spPr>
          <a:xfrm>
            <a:off x="433897" y="3615156"/>
            <a:ext cx="192699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Clr>
                <a:srgbClr val="232323"/>
              </a:buClr>
              <a:buSzPts val="2600"/>
              <a:buNone/>
              <a:defRPr sz="4400" b="1"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Calibri "/>
              </a:rPr>
              <a:t>T.R</a:t>
            </a:r>
            <a:r>
              <a:rPr lang="en-IN" sz="1800" dirty="0">
                <a:latin typeface="Calibri "/>
              </a:rPr>
              <a:t> </a:t>
            </a:r>
            <a:r>
              <a:rPr lang="en-US" sz="1800" dirty="0">
                <a:latin typeface="Calibri "/>
              </a:rPr>
              <a:t>Renukanthan</a:t>
            </a:r>
            <a:endParaRPr lang="en-IN" sz="1800" dirty="0">
              <a:latin typeface="Calibri 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7791C3-3D3A-A655-D4AE-75F73340D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7" b="94322" l="4944" r="91461">
                        <a14:foregroundMark x1="36404" y1="72161" x2="14607" y2="84982"/>
                        <a14:foregroundMark x1="4944" y1="75275" x2="9213" y2="91575"/>
                        <a14:foregroundMark x1="76404" y1="71245" x2="91685" y2="91575"/>
                        <a14:foregroundMark x1="68315" y1="94322" x2="16854" y2="93407"/>
                        <a14:foregroundMark x1="49438" y1="9890" x2="63371" y2="108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761" y="1386809"/>
            <a:ext cx="1766762" cy="211576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E5044C-98E9-78F0-31A1-36F910EF47AD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BF1B807-7E1C-6AC1-4CE0-7F4D62E79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7399" y="198715"/>
            <a:ext cx="2586644" cy="480764"/>
          </a:xfrm>
          <a:prstGeom prst="rect">
            <a:avLst/>
          </a:prstGeom>
        </p:spPr>
      </p:pic>
      <p:cxnSp>
        <p:nvCxnSpPr>
          <p:cNvPr id="4" name="Google Shape;46;p1">
            <a:extLst>
              <a:ext uri="{FF2B5EF4-FFF2-40B4-BE49-F238E27FC236}">
                <a16:creationId xmlns:a16="http://schemas.microsoft.com/office/drawing/2014/main" id="{8B6C6716-D3AC-B38E-F264-8C4BFE22DAAD}"/>
              </a:ext>
            </a:extLst>
          </p:cNvPr>
          <p:cNvCxnSpPr/>
          <p:nvPr/>
        </p:nvCxnSpPr>
        <p:spPr>
          <a:xfrm>
            <a:off x="5837513" y="1221739"/>
            <a:ext cx="0" cy="491738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46;p1">
            <a:extLst>
              <a:ext uri="{FF2B5EF4-FFF2-40B4-BE49-F238E27FC236}">
                <a16:creationId xmlns:a16="http://schemas.microsoft.com/office/drawing/2014/main" id="{EB10BA8B-36BE-F197-F873-4902C487E119}"/>
              </a:ext>
            </a:extLst>
          </p:cNvPr>
          <p:cNvCxnSpPr/>
          <p:nvPr/>
        </p:nvCxnSpPr>
        <p:spPr>
          <a:xfrm>
            <a:off x="9047438" y="1221739"/>
            <a:ext cx="0" cy="491738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8C5C9A4-ADBD-D1A2-3D4F-DB2CB5FE1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991" y="1386810"/>
            <a:ext cx="1704535" cy="2115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AFD47-5D67-3994-C8F7-BED9271D1F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0210" y="1386809"/>
            <a:ext cx="1704532" cy="2115757"/>
          </a:xfrm>
          <a:prstGeom prst="rect">
            <a:avLst/>
          </a:prstGeom>
        </p:spPr>
      </p:pic>
      <p:pic>
        <p:nvPicPr>
          <p:cNvPr id="10" name="Picture 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9D9B3DE-50A5-BDE1-C4D6-F4A4F6ECF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7483" y="1386809"/>
            <a:ext cx="1704532" cy="211575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Google Shape;41;p1">
            <a:extLst>
              <a:ext uri="{FF2B5EF4-FFF2-40B4-BE49-F238E27FC236}">
                <a16:creationId xmlns:a16="http://schemas.microsoft.com/office/drawing/2014/main" id="{38C476A0-7FA5-4B0B-1592-CC4AF3BB9E46}"/>
              </a:ext>
            </a:extLst>
          </p:cNvPr>
          <p:cNvSpPr txBox="1"/>
          <p:nvPr/>
        </p:nvSpPr>
        <p:spPr>
          <a:xfrm>
            <a:off x="3383508" y="3820157"/>
            <a:ext cx="2077657" cy="159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Founder &amp; CEO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Business Consultant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Calibri "/>
              <a:ea typeface="Verdana"/>
              <a:cs typeface="Verdana"/>
              <a:sym typeface="Verdana"/>
            </a:endParaRPr>
          </a:p>
          <a:p>
            <a:pPr lvl="0">
              <a:spcBef>
                <a:spcPts val="800"/>
              </a:spcBef>
              <a:defRPr/>
            </a:pPr>
            <a:r>
              <a:rPr lang="en-US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+91 90030 71320</a:t>
            </a:r>
          </a:p>
          <a:p>
            <a:pPr lvl="0">
              <a:spcBef>
                <a:spcPts val="800"/>
              </a:spcBef>
              <a:defRPr/>
            </a:pPr>
            <a:endParaRPr lang="en-US" sz="1400" b="1" dirty="0">
              <a:solidFill>
                <a:srgbClr val="2B143D"/>
              </a:solidFill>
              <a:latin typeface="Calibri "/>
              <a:ea typeface="Verdana"/>
              <a:cs typeface="Verdana"/>
              <a:sym typeface="Verdana"/>
            </a:endParaRPr>
          </a:p>
          <a:p>
            <a:pPr lvl="0">
              <a:spcBef>
                <a:spcPts val="800"/>
              </a:spcBef>
              <a:defRPr/>
            </a:pPr>
            <a:endParaRPr lang="en-US" sz="1400" b="1" dirty="0">
              <a:solidFill>
                <a:srgbClr val="2B143D"/>
              </a:solidFill>
              <a:latin typeface="Calibri 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41;p1">
            <a:extLst>
              <a:ext uri="{FF2B5EF4-FFF2-40B4-BE49-F238E27FC236}">
                <a16:creationId xmlns:a16="http://schemas.microsoft.com/office/drawing/2014/main" id="{D17FDDEA-FF76-CBF3-EABA-21E0A0D36E5E}"/>
              </a:ext>
            </a:extLst>
          </p:cNvPr>
          <p:cNvSpPr txBox="1"/>
          <p:nvPr/>
        </p:nvSpPr>
        <p:spPr>
          <a:xfrm>
            <a:off x="6391448" y="3793056"/>
            <a:ext cx="4112100" cy="85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Verdana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Calibri "/>
              <a:ea typeface="Verdana"/>
              <a:cs typeface="Verdana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Senior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Consultant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2B143D"/>
                </a:solidFill>
                <a:latin typeface="Calibri "/>
                <a:ea typeface="Verdana"/>
                <a:cs typeface="Verdana"/>
                <a:sym typeface="Verdana"/>
              </a:rPr>
              <a:t>+91 88386 62385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Calibri "/>
              <a:ea typeface="Verdana"/>
              <a:cs typeface="Verdana"/>
              <a:sym typeface="Verdana"/>
            </a:endParaRPr>
          </a:p>
        </p:txBody>
      </p:sp>
      <p:sp>
        <p:nvSpPr>
          <p:cNvPr id="13" name="Google Shape;41;p1">
            <a:extLst>
              <a:ext uri="{FF2B5EF4-FFF2-40B4-BE49-F238E27FC236}">
                <a16:creationId xmlns:a16="http://schemas.microsoft.com/office/drawing/2014/main" id="{D0CD13C5-058E-326B-142A-A81C7AEE9CA9}"/>
              </a:ext>
            </a:extLst>
          </p:cNvPr>
          <p:cNvSpPr txBox="1"/>
          <p:nvPr/>
        </p:nvSpPr>
        <p:spPr>
          <a:xfrm>
            <a:off x="9266306" y="3785975"/>
            <a:ext cx="4112100" cy="85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Verdana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Calibri "/>
              <a:ea typeface="Verdana"/>
              <a:cs typeface="Verdana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Associate Consultant -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Calibri "/>
                <a:ea typeface="Verdana"/>
                <a:cs typeface="Verdana"/>
                <a:sym typeface="Verdana"/>
              </a:rPr>
              <a:t>Trainee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Calibri "/>
              <a:ea typeface="Verdana"/>
              <a:cs typeface="Verdana"/>
              <a:sym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Verdana"/>
              <a:buNone/>
              <a:tabLst/>
              <a:defRPr/>
            </a:pPr>
            <a:r>
              <a:rPr lang="en-IN" sz="1400" b="1" dirty="0">
                <a:solidFill>
                  <a:srgbClr val="2B143D"/>
                </a:solidFill>
                <a:latin typeface="Calibri "/>
                <a:ea typeface="Verdana"/>
                <a:sym typeface="Verdana"/>
              </a:rPr>
              <a:t>+91 78128 89891</a:t>
            </a:r>
            <a:endParaRPr sz="1400" b="1" dirty="0">
              <a:solidFill>
                <a:srgbClr val="2B143D"/>
              </a:solidFill>
              <a:latin typeface="Calibri "/>
              <a:ea typeface="Verdana"/>
              <a:sym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D4126-D88B-C1C9-E953-4756330E6A05}"/>
              </a:ext>
            </a:extLst>
          </p:cNvPr>
          <p:cNvSpPr txBox="1"/>
          <p:nvPr/>
        </p:nvSpPr>
        <p:spPr>
          <a:xfrm>
            <a:off x="3280536" y="3629006"/>
            <a:ext cx="11283519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Clr>
                <a:srgbClr val="232323"/>
              </a:buClr>
              <a:buSzPts val="2600"/>
              <a:buNone/>
              <a:defRPr sz="4400" b="1"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Calibri "/>
              </a:rPr>
              <a:t>Ashok Soundararajan</a:t>
            </a:r>
            <a:endParaRPr lang="en-IN" sz="1800" dirty="0">
              <a:latin typeface="Calibri 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9F4CF-D4AE-2817-2C6F-22D9EFF42426}"/>
              </a:ext>
            </a:extLst>
          </p:cNvPr>
          <p:cNvSpPr txBox="1"/>
          <p:nvPr/>
        </p:nvSpPr>
        <p:spPr>
          <a:xfrm>
            <a:off x="4266665" y="3615156"/>
            <a:ext cx="63516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"/>
                <a:cs typeface="Arial" panose="020B0604020202020204" pitchFamily="34" charset="0"/>
              </a:rPr>
              <a:t>Ramkumar S</a:t>
            </a:r>
            <a:endParaRPr kumimoji="0" lang="en-I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F9841-5711-E6B2-8043-50DDC7CD0E71}"/>
              </a:ext>
            </a:extLst>
          </p:cNvPr>
          <p:cNvSpPr txBox="1"/>
          <p:nvPr/>
        </p:nvSpPr>
        <p:spPr>
          <a:xfrm>
            <a:off x="5092138" y="3541586"/>
            <a:ext cx="112835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tx2"/>
                </a:solidFill>
                <a:latin typeface="Calibri "/>
                <a:cs typeface="Arial" panose="020B0604020202020204" pitchFamily="34" charset="0"/>
              </a:rPr>
              <a:t>Sairam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alibri "/>
                <a:cs typeface="Arial" panose="020B0604020202020204" pitchFamily="34" charset="0"/>
              </a:rPr>
              <a:t>D K</a:t>
            </a:r>
            <a:endParaRPr kumimoji="0" lang="en-IN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05A0404-E8AC-95CE-6376-AAFB92B8415A}"/>
              </a:ext>
            </a:extLst>
          </p:cNvPr>
          <p:cNvSpPr txBox="1">
            <a:spLocks/>
          </p:cNvSpPr>
          <p:nvPr/>
        </p:nvSpPr>
        <p:spPr>
          <a:xfrm>
            <a:off x="467350" y="156572"/>
            <a:ext cx="9144000" cy="759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z="4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Our Team</a:t>
            </a:r>
          </a:p>
        </p:txBody>
      </p:sp>
    </p:spTree>
    <p:extLst>
      <p:ext uri="{BB962C8B-B14F-4D97-AF65-F5344CB8AC3E}">
        <p14:creationId xmlns:p14="http://schemas.microsoft.com/office/powerpoint/2010/main" val="3404715109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EF76-28F3-0EBF-200F-F2F1BB1D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437E-FEEE-FEBB-900A-52AE17350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913093" y="108285"/>
            <a:ext cx="9144000" cy="773266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About 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DAC9-8F91-966D-EFA1-5107717B35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B1284E-B942-1794-7699-F0C75D1BDBD6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FB1EB8D-3B19-411D-A097-F049D2D76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50" y="176203"/>
            <a:ext cx="2729588" cy="773265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4DBF8A4B-6D64-8205-8A75-93EABC440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829" y="1193553"/>
            <a:ext cx="11361741" cy="256821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Primal Solutions is a consulting firm serving as a catalysts for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”Organization’s Cultural Transformation”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focus is on fostering growth and innovation in the automotive sector by working closely with OEMs, Tier-1 suppliers, and component manufacturers.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help manufacturing companies to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operational efficiency, develop strategies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 measurable results that directly impact the bottom line.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(Home Page – Hero Section)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team of seasoned consultant’s leverage deep industry to drive operational excellence and sustainable change.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A84A8-FA02-6968-3D8C-0D7C45AA3324}"/>
              </a:ext>
            </a:extLst>
          </p:cNvPr>
          <p:cNvSpPr txBox="1"/>
          <p:nvPr/>
        </p:nvSpPr>
        <p:spPr>
          <a:xfrm>
            <a:off x="480348" y="4670872"/>
            <a:ext cx="1107118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the next three years, Primal Solutions aims to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(About Us – Second Section)</a:t>
            </a: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 itself as a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transformation partner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automotive ecosystem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from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project-based consulting to long-term, end to end transformation engagements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strong, 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differentiated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capability in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Lean, TQM, TPM, Digital Manufacturing and Leadership Development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5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515C52-D9D6-984A-79D1-B24E6EF1E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830" y="1192278"/>
            <a:ext cx="10651648" cy="2236722"/>
          </a:xfr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indent="0" algn="l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Vision</a:t>
            </a:r>
          </a:p>
          <a:p>
            <a:pPr marL="342900" indent="-342900" algn="l"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the most trusted transformation partner for MSMEs, automotive, and manufacturing enterprises by solving deep-rooted business challenges and driving sustainable, profitable growth. By 2030, we aspire to transform 100 organizations through operational excellence and cultural change.</a:t>
            </a:r>
          </a:p>
          <a:p>
            <a:pPr marL="342900" indent="-342900" algn="l"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4AC62-A1CE-425B-D38C-9F3A0DC50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D1F70-35BC-C3AC-FEE0-89439909F899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C537888-A0B1-5735-A427-05CE191C9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50" y="176203"/>
            <a:ext cx="2729588" cy="773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E57314-31BC-BBDB-73E0-BF74FDA3D3FE}"/>
              </a:ext>
            </a:extLst>
          </p:cNvPr>
          <p:cNvSpPr txBox="1"/>
          <p:nvPr/>
        </p:nvSpPr>
        <p:spPr>
          <a:xfrm>
            <a:off x="504194" y="3660964"/>
            <a:ext cx="11183612" cy="200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2925" lvl="1" indent="-27622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lvl="2" indent="-2667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lvl="3" indent="-2667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lvl="4" indent="-2667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lvl="5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/>
            </a:lvl6pPr>
            <a:lvl7pPr marL="2971800" lvl="6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/>
            </a:lvl7pPr>
            <a:lvl8pPr marL="3429000" lvl="7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/>
            </a:lvl8pPr>
            <a:lvl9pPr marL="3886200" lvl="8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2400" b="1" dirty="0"/>
              <a:t>Our Mission</a:t>
            </a:r>
          </a:p>
          <a:p>
            <a:endParaRPr lang="en-US" sz="2400" b="1" dirty="0"/>
          </a:p>
          <a:p>
            <a:r>
              <a:rPr lang="en-US" dirty="0"/>
              <a:t>“We turn strategy into execution through robust systems, strong leadership, and cultural transformation - delivering measurable impact, industry-ready talent, and sustainable performance for our clients."</a:t>
            </a: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DCEFD-C9C6-09E6-5F05-425CFF9F9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98406" y="-1438132"/>
            <a:ext cx="9144000" cy="2387600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Vision &amp; Mission</a:t>
            </a:r>
          </a:p>
        </p:txBody>
      </p:sp>
    </p:spTree>
    <p:extLst>
      <p:ext uri="{BB962C8B-B14F-4D97-AF65-F5344CB8AC3E}">
        <p14:creationId xmlns:p14="http://schemas.microsoft.com/office/powerpoint/2010/main" val="335420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A613-EFBE-8DEB-4863-5BE1B541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01ABA1-5D3F-3412-D66B-A2EAD0A8B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091" y="1088384"/>
            <a:ext cx="11098734" cy="3966917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Integrity and Ethics: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Light body"/>
                <a:ea typeface="Calibri" panose="020F0502020204030204" pitchFamily="34" charset="0"/>
                <a:cs typeface="Calibri" panose="020F0502020204030204" pitchFamily="34" charset="0"/>
              </a:rPr>
              <a:t>Act with honesty and fairness, </a:t>
            </a:r>
            <a:r>
              <a:rPr lang="en-US" dirty="0">
                <a:latin typeface="Calibri Light body"/>
                <a:ea typeface="Calibri" panose="020F0502020204030204" pitchFamily="34" charset="0"/>
                <a:cs typeface="Calibri" panose="020F0502020204030204" pitchFamily="34" charset="0"/>
              </a:rPr>
              <a:t>building trust through strong moral principles.</a:t>
            </a:r>
          </a:p>
          <a:p>
            <a:pPr algn="l"/>
            <a:endParaRPr lang="en-US" dirty="0">
              <a:latin typeface="Calibri Light body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Centric: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 Light body"/>
                <a:ea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Light body"/>
                <a:ea typeface="Calibri" panose="020F0502020204030204" pitchFamily="34" charset="0"/>
                <a:cs typeface="Calibri" panose="020F0502020204030204" pitchFamily="34" charset="0"/>
              </a:rPr>
              <a:t>understanding customer needs and delivering solutions</a:t>
            </a:r>
            <a:r>
              <a:rPr lang="en-US" dirty="0">
                <a:latin typeface="Calibri Light body"/>
                <a:ea typeface="Calibri" panose="020F0502020204030204" pitchFamily="34" charset="0"/>
                <a:cs typeface="Calibri" panose="020F0502020204030204" pitchFamily="34" charset="0"/>
              </a:rPr>
              <a:t> that ensure satisfaction.</a:t>
            </a:r>
          </a:p>
          <a:p>
            <a:pPr algn="l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Oriented: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 measurable outcomes efficiently while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maintaining quality standards.</a:t>
            </a: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 Centric: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Empower and value individuals,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fostering collaboration and team success.</a:t>
            </a:r>
          </a:p>
          <a:p>
            <a:pPr marL="571500" indent="-571500" algn="l">
              <a:buFontTx/>
              <a:buChar char="-"/>
            </a:pPr>
            <a:endParaRPr lang="en-IN" sz="3600" b="1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50B72-6784-A5F6-AF5E-6C13883E3F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AD88-1CB3-DC2C-D1E0-91D5F9C5D3B8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8EA1A61-5E62-675D-83DF-6DD47D8F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50" y="176203"/>
            <a:ext cx="2729588" cy="773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4EEA2D-ED0F-4CA3-CF96-F92483122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92122" y="-1470800"/>
            <a:ext cx="9144000" cy="2387600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Values</a:t>
            </a:r>
          </a:p>
        </p:txBody>
      </p:sp>
    </p:spTree>
    <p:extLst>
      <p:ext uri="{BB962C8B-B14F-4D97-AF65-F5344CB8AC3E}">
        <p14:creationId xmlns:p14="http://schemas.microsoft.com/office/powerpoint/2010/main" val="42317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564;p21"/>
          <p:cNvSpPr txBox="1">
            <a:spLocks noChangeArrowheads="1"/>
          </p:cNvSpPr>
          <p:nvPr/>
        </p:nvSpPr>
        <p:spPr bwMode="auto">
          <a:xfrm>
            <a:off x="8401043" y="1863212"/>
            <a:ext cx="2995616" cy="877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SzPts val="1700"/>
            </a:pPr>
            <a:r>
              <a:rPr lang="en-US" sz="1700" dirty="0">
                <a:latin typeface="Open Sans" panose="020B0606030504020204" pitchFamily="34" charset="0"/>
                <a:cs typeface="Open Sans" panose="020B0606030504020204" pitchFamily="34" charset="0"/>
              </a:rPr>
              <a:t>Sustained engagement for continuous improvement, transformation, and capability building</a:t>
            </a:r>
            <a:endParaRPr lang="en-US" altLang="en-US" sz="17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723" name="Google Shape;565;p21"/>
          <p:cNvSpPr>
            <a:spLocks noChangeArrowheads="1"/>
          </p:cNvSpPr>
          <p:nvPr/>
        </p:nvSpPr>
        <p:spPr bwMode="auto">
          <a:xfrm>
            <a:off x="6931025" y="1243013"/>
            <a:ext cx="1354138" cy="1355725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4" name="Google Shape;566;p21"/>
          <p:cNvSpPr>
            <a:spLocks noChangeArrowheads="1"/>
          </p:cNvSpPr>
          <p:nvPr/>
        </p:nvSpPr>
        <p:spPr bwMode="auto">
          <a:xfrm>
            <a:off x="6931025" y="4270375"/>
            <a:ext cx="1354138" cy="135572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5" name="Google Shape;567;p21"/>
          <p:cNvSpPr>
            <a:spLocks noChangeArrowheads="1"/>
          </p:cNvSpPr>
          <p:nvPr/>
        </p:nvSpPr>
        <p:spPr bwMode="auto">
          <a:xfrm>
            <a:off x="3910013" y="1243013"/>
            <a:ext cx="1354137" cy="1355725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6" name="Google Shape;568;p21"/>
          <p:cNvSpPr>
            <a:spLocks noChangeArrowheads="1"/>
          </p:cNvSpPr>
          <p:nvPr/>
        </p:nvSpPr>
        <p:spPr bwMode="auto">
          <a:xfrm>
            <a:off x="3910013" y="4270375"/>
            <a:ext cx="1354137" cy="1355725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7" name="Google Shape;569;p21"/>
          <p:cNvSpPr>
            <a:spLocks/>
          </p:cNvSpPr>
          <p:nvPr/>
        </p:nvSpPr>
        <p:spPr bwMode="auto">
          <a:xfrm>
            <a:off x="8016875" y="2598738"/>
            <a:ext cx="174625" cy="1651000"/>
          </a:xfrm>
          <a:custGeom>
            <a:avLst/>
            <a:gdLst>
              <a:gd name="T0" fmla="*/ 0 w 43"/>
              <a:gd name="T1" fmla="*/ 0 h 406"/>
              <a:gd name="T2" fmla="*/ 43 w 43"/>
              <a:gd name="T3" fmla="*/ 205 h 406"/>
              <a:gd name="T4" fmla="*/ 2 w 43"/>
              <a:gd name="T5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406" extrusionOk="0">
                <a:moveTo>
                  <a:pt x="0" y="0"/>
                </a:moveTo>
                <a:cubicBezTo>
                  <a:pt x="28" y="63"/>
                  <a:pt x="43" y="132"/>
                  <a:pt x="43" y="205"/>
                </a:cubicBezTo>
                <a:cubicBezTo>
                  <a:pt x="43" y="276"/>
                  <a:pt x="29" y="344"/>
                  <a:pt x="2" y="406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28" name="Google Shape;570;p21"/>
          <p:cNvSpPr>
            <a:spLocks/>
          </p:cNvSpPr>
          <p:nvPr/>
        </p:nvSpPr>
        <p:spPr bwMode="auto">
          <a:xfrm>
            <a:off x="5284788" y="5357813"/>
            <a:ext cx="1646237" cy="169862"/>
          </a:xfrm>
          <a:custGeom>
            <a:avLst/>
            <a:gdLst>
              <a:gd name="T0" fmla="*/ 405 w 405"/>
              <a:gd name="T1" fmla="*/ 0 h 42"/>
              <a:gd name="T2" fmla="*/ 200 w 405"/>
              <a:gd name="T3" fmla="*/ 42 h 42"/>
              <a:gd name="T4" fmla="*/ 0 w 405"/>
              <a:gd name="T5" fmla="*/ 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5" h="42" extrusionOk="0">
                <a:moveTo>
                  <a:pt x="405" y="0"/>
                </a:moveTo>
                <a:cubicBezTo>
                  <a:pt x="342" y="27"/>
                  <a:pt x="273" y="42"/>
                  <a:pt x="200" y="42"/>
                </a:cubicBezTo>
                <a:cubicBezTo>
                  <a:pt x="129" y="42"/>
                  <a:pt x="61" y="28"/>
                  <a:pt x="0" y="2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29" name="Google Shape;571;p21"/>
          <p:cNvSpPr>
            <a:spLocks/>
          </p:cNvSpPr>
          <p:nvPr/>
        </p:nvSpPr>
        <p:spPr bwMode="auto">
          <a:xfrm>
            <a:off x="4003675" y="2617788"/>
            <a:ext cx="174625" cy="1652587"/>
          </a:xfrm>
          <a:custGeom>
            <a:avLst/>
            <a:gdLst>
              <a:gd name="T0" fmla="*/ 43 w 43"/>
              <a:gd name="T1" fmla="*/ 406 h 406"/>
              <a:gd name="T2" fmla="*/ 0 w 43"/>
              <a:gd name="T3" fmla="*/ 200 h 406"/>
              <a:gd name="T4" fmla="*/ 41 w 43"/>
              <a:gd name="T5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406" extrusionOk="0">
                <a:moveTo>
                  <a:pt x="43" y="406"/>
                </a:moveTo>
                <a:cubicBezTo>
                  <a:pt x="15" y="343"/>
                  <a:pt x="0" y="273"/>
                  <a:pt x="0" y="200"/>
                </a:cubicBezTo>
                <a:cubicBezTo>
                  <a:pt x="0" y="129"/>
                  <a:pt x="14" y="62"/>
                  <a:pt x="41" y="0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0" name="Google Shape;572;p21"/>
          <p:cNvSpPr>
            <a:spLocks/>
          </p:cNvSpPr>
          <p:nvPr/>
        </p:nvSpPr>
        <p:spPr bwMode="auto">
          <a:xfrm>
            <a:off x="5264150" y="1336675"/>
            <a:ext cx="1646238" cy="174625"/>
          </a:xfrm>
          <a:custGeom>
            <a:avLst/>
            <a:gdLst>
              <a:gd name="T0" fmla="*/ 0 w 405"/>
              <a:gd name="T1" fmla="*/ 43 h 43"/>
              <a:gd name="T2" fmla="*/ 205 w 405"/>
              <a:gd name="T3" fmla="*/ 0 h 43"/>
              <a:gd name="T4" fmla="*/ 405 w 405"/>
              <a:gd name="T5" fmla="*/ 4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5" h="43" extrusionOk="0">
                <a:moveTo>
                  <a:pt x="0" y="43"/>
                </a:moveTo>
                <a:cubicBezTo>
                  <a:pt x="63" y="16"/>
                  <a:pt x="132" y="0"/>
                  <a:pt x="205" y="0"/>
                </a:cubicBezTo>
                <a:cubicBezTo>
                  <a:pt x="276" y="0"/>
                  <a:pt x="344" y="15"/>
                  <a:pt x="405" y="41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1" name="Google Shape;573;p21"/>
          <p:cNvSpPr>
            <a:spLocks/>
          </p:cNvSpPr>
          <p:nvPr/>
        </p:nvSpPr>
        <p:spPr bwMode="auto">
          <a:xfrm>
            <a:off x="7235825" y="4575175"/>
            <a:ext cx="744538" cy="746125"/>
          </a:xfrm>
          <a:custGeom>
            <a:avLst/>
            <a:gdLst>
              <a:gd name="T0" fmla="*/ 75 w 183"/>
              <a:gd name="T1" fmla="*/ 176 h 183"/>
              <a:gd name="T2" fmla="*/ 60 w 183"/>
              <a:gd name="T3" fmla="*/ 152 h 183"/>
              <a:gd name="T4" fmla="*/ 33 w 183"/>
              <a:gd name="T5" fmla="*/ 162 h 183"/>
              <a:gd name="T6" fmla="*/ 31 w 183"/>
              <a:gd name="T7" fmla="*/ 125 h 183"/>
              <a:gd name="T8" fmla="*/ 25 w 183"/>
              <a:gd name="T9" fmla="*/ 111 h 183"/>
              <a:gd name="T10" fmla="*/ 0 w 183"/>
              <a:gd name="T11" fmla="*/ 82 h 183"/>
              <a:gd name="T12" fmla="*/ 26 w 183"/>
              <a:gd name="T13" fmla="*/ 70 h 183"/>
              <a:gd name="T14" fmla="*/ 20 w 183"/>
              <a:gd name="T15" fmla="*/ 43 h 183"/>
              <a:gd name="T16" fmla="*/ 44 w 183"/>
              <a:gd name="T17" fmla="*/ 19 h 183"/>
              <a:gd name="T18" fmla="*/ 71 w 183"/>
              <a:gd name="T19" fmla="*/ 26 h 183"/>
              <a:gd name="T20" fmla="*/ 83 w 183"/>
              <a:gd name="T21" fmla="*/ 0 h 183"/>
              <a:gd name="T22" fmla="*/ 111 w 183"/>
              <a:gd name="T23" fmla="*/ 24 h 183"/>
              <a:gd name="T24" fmla="*/ 125 w 183"/>
              <a:gd name="T25" fmla="*/ 30 h 183"/>
              <a:gd name="T26" fmla="*/ 163 w 183"/>
              <a:gd name="T27" fmla="*/ 33 h 183"/>
              <a:gd name="T28" fmla="*/ 153 w 183"/>
              <a:gd name="T29" fmla="*/ 60 h 183"/>
              <a:gd name="T30" fmla="*/ 177 w 183"/>
              <a:gd name="T31" fmla="*/ 74 h 183"/>
              <a:gd name="T32" fmla="*/ 183 w 183"/>
              <a:gd name="T33" fmla="*/ 100 h 183"/>
              <a:gd name="T34" fmla="*/ 157 w 183"/>
              <a:gd name="T35" fmla="*/ 112 h 183"/>
              <a:gd name="T36" fmla="*/ 164 w 183"/>
              <a:gd name="T37" fmla="*/ 139 h 183"/>
              <a:gd name="T38" fmla="*/ 140 w 183"/>
              <a:gd name="T39" fmla="*/ 163 h 183"/>
              <a:gd name="T40" fmla="*/ 113 w 183"/>
              <a:gd name="T41" fmla="*/ 157 h 183"/>
              <a:gd name="T42" fmla="*/ 101 w 183"/>
              <a:gd name="T43" fmla="*/ 183 h 183"/>
              <a:gd name="T44" fmla="*/ 103 w 183"/>
              <a:gd name="T45" fmla="*/ 157 h 183"/>
              <a:gd name="T46" fmla="*/ 130 w 183"/>
              <a:gd name="T47" fmla="*/ 146 h 183"/>
              <a:gd name="T48" fmla="*/ 146 w 183"/>
              <a:gd name="T49" fmla="*/ 130 h 183"/>
              <a:gd name="T50" fmla="*/ 157 w 183"/>
              <a:gd name="T51" fmla="*/ 103 h 183"/>
              <a:gd name="T52" fmla="*/ 157 w 183"/>
              <a:gd name="T53" fmla="*/ 80 h 183"/>
              <a:gd name="T54" fmla="*/ 146 w 183"/>
              <a:gd name="T55" fmla="*/ 53 h 183"/>
              <a:gd name="T56" fmla="*/ 130 w 183"/>
              <a:gd name="T57" fmla="*/ 37 h 183"/>
              <a:gd name="T58" fmla="*/ 103 w 183"/>
              <a:gd name="T59" fmla="*/ 26 h 183"/>
              <a:gd name="T60" fmla="*/ 81 w 183"/>
              <a:gd name="T61" fmla="*/ 26 h 183"/>
              <a:gd name="T62" fmla="*/ 53 w 183"/>
              <a:gd name="T63" fmla="*/ 37 h 183"/>
              <a:gd name="T64" fmla="*/ 37 w 183"/>
              <a:gd name="T65" fmla="*/ 53 h 183"/>
              <a:gd name="T66" fmla="*/ 26 w 183"/>
              <a:gd name="T67" fmla="*/ 80 h 183"/>
              <a:gd name="T68" fmla="*/ 26 w 183"/>
              <a:gd name="T69" fmla="*/ 103 h 183"/>
              <a:gd name="T70" fmla="*/ 37 w 183"/>
              <a:gd name="T71" fmla="*/ 130 h 183"/>
              <a:gd name="T72" fmla="*/ 53 w 183"/>
              <a:gd name="T73" fmla="*/ 146 h 183"/>
              <a:gd name="T74" fmla="*/ 81 w 183"/>
              <a:gd name="T75" fmla="*/ 157 h 183"/>
              <a:gd name="T76" fmla="*/ 27 w 183"/>
              <a:gd name="T77" fmla="*/ 144 h 183"/>
              <a:gd name="T78" fmla="*/ 157 w 183"/>
              <a:gd name="T79" fmla="*/ 144 h 183"/>
              <a:gd name="T80" fmla="*/ 9 w 183"/>
              <a:gd name="T81" fmla="*/ 100 h 183"/>
              <a:gd name="T82" fmla="*/ 175 w 183"/>
              <a:gd name="T83" fmla="*/ 100 h 183"/>
              <a:gd name="T84" fmla="*/ 8 w 183"/>
              <a:gd name="T85" fmla="*/ 100 h 183"/>
              <a:gd name="T86" fmla="*/ 145 w 183"/>
              <a:gd name="T87" fmla="*/ 26 h 183"/>
              <a:gd name="T88" fmla="*/ 92 w 183"/>
              <a:gd name="T89" fmla="*/ 128 h 183"/>
              <a:gd name="T90" fmla="*/ 84 w 183"/>
              <a:gd name="T91" fmla="*/ 56 h 183"/>
              <a:gd name="T92" fmla="*/ 100 w 183"/>
              <a:gd name="T93" fmla="*/ 127 h 183"/>
              <a:gd name="T94" fmla="*/ 85 w 183"/>
              <a:gd name="T95" fmla="*/ 64 h 183"/>
              <a:gd name="T96" fmla="*/ 98 w 183"/>
              <a:gd name="T97" fmla="*/ 119 h 183"/>
              <a:gd name="T98" fmla="*/ 112 w 183"/>
              <a:gd name="T99" fmla="*/ 71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83" h="183" extrusionOk="0">
                <a:moveTo>
                  <a:pt x="101" y="183"/>
                </a:moveTo>
                <a:cubicBezTo>
                  <a:pt x="83" y="183"/>
                  <a:pt x="83" y="183"/>
                  <a:pt x="83" y="183"/>
                </a:cubicBezTo>
                <a:cubicBezTo>
                  <a:pt x="79" y="183"/>
                  <a:pt x="76" y="180"/>
                  <a:pt x="75" y="176"/>
                </a:cubicBezTo>
                <a:cubicBezTo>
                  <a:pt x="72" y="158"/>
                  <a:pt x="72" y="158"/>
                  <a:pt x="72" y="158"/>
                </a:cubicBezTo>
                <a:cubicBezTo>
                  <a:pt x="72" y="157"/>
                  <a:pt x="71" y="157"/>
                  <a:pt x="71" y="157"/>
                </a:cubicBezTo>
                <a:cubicBezTo>
                  <a:pt x="67" y="155"/>
                  <a:pt x="64" y="154"/>
                  <a:pt x="60" y="152"/>
                </a:cubicBezTo>
                <a:cubicBezTo>
                  <a:pt x="60" y="152"/>
                  <a:pt x="59" y="152"/>
                  <a:pt x="58" y="152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41" y="165"/>
                  <a:pt x="36" y="165"/>
                  <a:pt x="33" y="162"/>
                </a:cubicBezTo>
                <a:cubicBezTo>
                  <a:pt x="21" y="150"/>
                  <a:pt x="21" y="150"/>
                  <a:pt x="21" y="150"/>
                </a:cubicBezTo>
                <a:cubicBezTo>
                  <a:pt x="18" y="147"/>
                  <a:pt x="18" y="142"/>
                  <a:pt x="20" y="139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1" y="123"/>
                  <a:pt x="31" y="123"/>
                </a:cubicBezTo>
                <a:cubicBezTo>
                  <a:pt x="29" y="119"/>
                  <a:pt x="28" y="116"/>
                  <a:pt x="26" y="112"/>
                </a:cubicBezTo>
                <a:cubicBezTo>
                  <a:pt x="26" y="111"/>
                  <a:pt x="26" y="111"/>
                  <a:pt x="25" y="111"/>
                </a:cubicBezTo>
                <a:cubicBezTo>
                  <a:pt x="7" y="108"/>
                  <a:pt x="7" y="108"/>
                  <a:pt x="7" y="108"/>
                </a:cubicBezTo>
                <a:cubicBezTo>
                  <a:pt x="3" y="107"/>
                  <a:pt x="0" y="104"/>
                  <a:pt x="0" y="100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78"/>
                  <a:pt x="3" y="75"/>
                  <a:pt x="7" y="74"/>
                </a:cubicBezTo>
                <a:cubicBezTo>
                  <a:pt x="25" y="72"/>
                  <a:pt x="25" y="72"/>
                  <a:pt x="25" y="72"/>
                </a:cubicBezTo>
                <a:cubicBezTo>
                  <a:pt x="26" y="72"/>
                  <a:pt x="26" y="71"/>
                  <a:pt x="26" y="70"/>
                </a:cubicBezTo>
                <a:cubicBezTo>
                  <a:pt x="28" y="67"/>
                  <a:pt x="29" y="63"/>
                  <a:pt x="31" y="60"/>
                </a:cubicBezTo>
                <a:cubicBezTo>
                  <a:pt x="31" y="59"/>
                  <a:pt x="31" y="58"/>
                  <a:pt x="31" y="58"/>
                </a:cubicBezTo>
                <a:cubicBezTo>
                  <a:pt x="20" y="43"/>
                  <a:pt x="20" y="43"/>
                  <a:pt x="20" y="43"/>
                </a:cubicBezTo>
                <a:cubicBezTo>
                  <a:pt x="18" y="40"/>
                  <a:pt x="18" y="35"/>
                  <a:pt x="21" y="33"/>
                </a:cubicBezTo>
                <a:cubicBezTo>
                  <a:pt x="33" y="20"/>
                  <a:pt x="33" y="20"/>
                  <a:pt x="33" y="20"/>
                </a:cubicBezTo>
                <a:cubicBezTo>
                  <a:pt x="36" y="17"/>
                  <a:pt x="41" y="17"/>
                  <a:pt x="44" y="19"/>
                </a:cubicBezTo>
                <a:cubicBezTo>
                  <a:pt x="58" y="30"/>
                  <a:pt x="58" y="30"/>
                  <a:pt x="58" y="30"/>
                </a:cubicBezTo>
                <a:cubicBezTo>
                  <a:pt x="59" y="30"/>
                  <a:pt x="60" y="30"/>
                  <a:pt x="60" y="30"/>
                </a:cubicBezTo>
                <a:cubicBezTo>
                  <a:pt x="64" y="28"/>
                  <a:pt x="67" y="27"/>
                  <a:pt x="71" y="26"/>
                </a:cubicBezTo>
                <a:cubicBezTo>
                  <a:pt x="72" y="26"/>
                  <a:pt x="72" y="25"/>
                  <a:pt x="72" y="24"/>
                </a:cubicBezTo>
                <a:cubicBezTo>
                  <a:pt x="75" y="6"/>
                  <a:pt x="75" y="6"/>
                  <a:pt x="75" y="6"/>
                </a:cubicBezTo>
                <a:cubicBezTo>
                  <a:pt x="76" y="3"/>
                  <a:pt x="79" y="0"/>
                  <a:pt x="83" y="0"/>
                </a:cubicBezTo>
                <a:cubicBezTo>
                  <a:pt x="101" y="0"/>
                  <a:pt x="101" y="0"/>
                  <a:pt x="101" y="0"/>
                </a:cubicBezTo>
                <a:cubicBezTo>
                  <a:pt x="105" y="0"/>
                  <a:pt x="108" y="3"/>
                  <a:pt x="109" y="6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5"/>
                  <a:pt x="112" y="26"/>
                  <a:pt x="113" y="26"/>
                </a:cubicBezTo>
                <a:cubicBezTo>
                  <a:pt x="116" y="27"/>
                  <a:pt x="120" y="28"/>
                  <a:pt x="123" y="30"/>
                </a:cubicBezTo>
                <a:cubicBezTo>
                  <a:pt x="124" y="30"/>
                  <a:pt x="125" y="30"/>
                  <a:pt x="125" y="30"/>
                </a:cubicBezTo>
                <a:cubicBezTo>
                  <a:pt x="140" y="19"/>
                  <a:pt x="140" y="19"/>
                  <a:pt x="140" y="19"/>
                </a:cubicBezTo>
                <a:cubicBezTo>
                  <a:pt x="143" y="17"/>
                  <a:pt x="148" y="17"/>
                  <a:pt x="150" y="20"/>
                </a:cubicBezTo>
                <a:cubicBezTo>
                  <a:pt x="163" y="33"/>
                  <a:pt x="163" y="33"/>
                  <a:pt x="163" y="33"/>
                </a:cubicBezTo>
                <a:cubicBezTo>
                  <a:pt x="166" y="35"/>
                  <a:pt x="166" y="40"/>
                  <a:pt x="164" y="43"/>
                </a:cubicBezTo>
                <a:cubicBezTo>
                  <a:pt x="153" y="58"/>
                  <a:pt x="153" y="58"/>
                  <a:pt x="153" y="58"/>
                </a:cubicBezTo>
                <a:cubicBezTo>
                  <a:pt x="153" y="58"/>
                  <a:pt x="153" y="59"/>
                  <a:pt x="153" y="60"/>
                </a:cubicBezTo>
                <a:cubicBezTo>
                  <a:pt x="155" y="63"/>
                  <a:pt x="156" y="67"/>
                  <a:pt x="157" y="70"/>
                </a:cubicBezTo>
                <a:cubicBezTo>
                  <a:pt x="157" y="71"/>
                  <a:pt x="158" y="72"/>
                  <a:pt x="159" y="72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81" y="75"/>
                  <a:pt x="183" y="78"/>
                  <a:pt x="183" y="82"/>
                </a:cubicBezTo>
                <a:cubicBezTo>
                  <a:pt x="183" y="100"/>
                  <a:pt x="183" y="100"/>
                  <a:pt x="183" y="100"/>
                </a:cubicBezTo>
                <a:cubicBezTo>
                  <a:pt x="183" y="104"/>
                  <a:pt x="180" y="107"/>
                  <a:pt x="177" y="108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7" y="112"/>
                  <a:pt x="157" y="112"/>
                </a:cubicBezTo>
                <a:cubicBezTo>
                  <a:pt x="156" y="116"/>
                  <a:pt x="155" y="119"/>
                  <a:pt x="153" y="123"/>
                </a:cubicBezTo>
                <a:cubicBezTo>
                  <a:pt x="153" y="123"/>
                  <a:pt x="153" y="124"/>
                  <a:pt x="153" y="125"/>
                </a:cubicBezTo>
                <a:cubicBezTo>
                  <a:pt x="164" y="139"/>
                  <a:pt x="164" y="139"/>
                  <a:pt x="164" y="139"/>
                </a:cubicBezTo>
                <a:cubicBezTo>
                  <a:pt x="166" y="143"/>
                  <a:pt x="166" y="147"/>
                  <a:pt x="163" y="150"/>
                </a:cubicBezTo>
                <a:cubicBezTo>
                  <a:pt x="150" y="162"/>
                  <a:pt x="150" y="162"/>
                  <a:pt x="150" y="162"/>
                </a:cubicBezTo>
                <a:cubicBezTo>
                  <a:pt x="148" y="165"/>
                  <a:pt x="143" y="165"/>
                  <a:pt x="140" y="163"/>
                </a:cubicBezTo>
                <a:cubicBezTo>
                  <a:pt x="125" y="152"/>
                  <a:pt x="125" y="152"/>
                  <a:pt x="125" y="152"/>
                </a:cubicBezTo>
                <a:cubicBezTo>
                  <a:pt x="125" y="152"/>
                  <a:pt x="124" y="152"/>
                  <a:pt x="123" y="152"/>
                </a:cubicBezTo>
                <a:cubicBezTo>
                  <a:pt x="120" y="154"/>
                  <a:pt x="116" y="155"/>
                  <a:pt x="113" y="157"/>
                </a:cubicBezTo>
                <a:cubicBezTo>
                  <a:pt x="112" y="157"/>
                  <a:pt x="111" y="157"/>
                  <a:pt x="111" y="158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08" y="180"/>
                  <a:pt x="105" y="183"/>
                  <a:pt x="101" y="183"/>
                </a:cubicBezTo>
                <a:close/>
                <a:moveTo>
                  <a:pt x="83" y="174"/>
                </a:moveTo>
                <a:cubicBezTo>
                  <a:pt x="100" y="174"/>
                  <a:pt x="100" y="174"/>
                  <a:pt x="100" y="174"/>
                </a:cubicBezTo>
                <a:cubicBezTo>
                  <a:pt x="103" y="157"/>
                  <a:pt x="103" y="157"/>
                  <a:pt x="103" y="157"/>
                </a:cubicBezTo>
                <a:cubicBezTo>
                  <a:pt x="104" y="153"/>
                  <a:pt x="106" y="150"/>
                  <a:pt x="110" y="149"/>
                </a:cubicBezTo>
                <a:cubicBezTo>
                  <a:pt x="113" y="148"/>
                  <a:pt x="116" y="146"/>
                  <a:pt x="119" y="145"/>
                </a:cubicBezTo>
                <a:cubicBezTo>
                  <a:pt x="123" y="143"/>
                  <a:pt x="127" y="143"/>
                  <a:pt x="130" y="146"/>
                </a:cubicBezTo>
                <a:cubicBezTo>
                  <a:pt x="145" y="156"/>
                  <a:pt x="145" y="156"/>
                  <a:pt x="145" y="156"/>
                </a:cubicBezTo>
                <a:cubicBezTo>
                  <a:pt x="157" y="144"/>
                  <a:pt x="157" y="144"/>
                  <a:pt x="157" y="144"/>
                </a:cubicBezTo>
                <a:cubicBezTo>
                  <a:pt x="146" y="130"/>
                  <a:pt x="146" y="130"/>
                  <a:pt x="146" y="130"/>
                </a:cubicBezTo>
                <a:cubicBezTo>
                  <a:pt x="144" y="126"/>
                  <a:pt x="144" y="122"/>
                  <a:pt x="145" y="119"/>
                </a:cubicBezTo>
                <a:cubicBezTo>
                  <a:pt x="147" y="116"/>
                  <a:pt x="148" y="113"/>
                  <a:pt x="149" y="110"/>
                </a:cubicBezTo>
                <a:cubicBezTo>
                  <a:pt x="150" y="106"/>
                  <a:pt x="154" y="103"/>
                  <a:pt x="157" y="103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83"/>
                  <a:pt x="175" y="83"/>
                  <a:pt x="175" y="83"/>
                </a:cubicBezTo>
                <a:cubicBezTo>
                  <a:pt x="157" y="80"/>
                  <a:pt x="157" y="80"/>
                  <a:pt x="157" y="80"/>
                </a:cubicBezTo>
                <a:cubicBezTo>
                  <a:pt x="154" y="79"/>
                  <a:pt x="150" y="77"/>
                  <a:pt x="149" y="73"/>
                </a:cubicBezTo>
                <a:cubicBezTo>
                  <a:pt x="148" y="70"/>
                  <a:pt x="147" y="67"/>
                  <a:pt x="145" y="64"/>
                </a:cubicBezTo>
                <a:cubicBezTo>
                  <a:pt x="144" y="60"/>
                  <a:pt x="144" y="56"/>
                  <a:pt x="146" y="53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27" y="39"/>
                  <a:pt x="123" y="39"/>
                  <a:pt x="119" y="38"/>
                </a:cubicBezTo>
                <a:cubicBezTo>
                  <a:pt x="116" y="36"/>
                  <a:pt x="113" y="35"/>
                  <a:pt x="110" y="34"/>
                </a:cubicBezTo>
                <a:cubicBezTo>
                  <a:pt x="106" y="33"/>
                  <a:pt x="104" y="29"/>
                  <a:pt x="103" y="26"/>
                </a:cubicBezTo>
                <a:cubicBezTo>
                  <a:pt x="100" y="8"/>
                  <a:pt x="100" y="8"/>
                  <a:pt x="100" y="8"/>
                </a:cubicBezTo>
                <a:cubicBezTo>
                  <a:pt x="83" y="8"/>
                  <a:pt x="83" y="8"/>
                  <a:pt x="83" y="8"/>
                </a:cubicBezTo>
                <a:cubicBezTo>
                  <a:pt x="81" y="26"/>
                  <a:pt x="81" y="26"/>
                  <a:pt x="81" y="26"/>
                </a:cubicBezTo>
                <a:cubicBezTo>
                  <a:pt x="80" y="29"/>
                  <a:pt x="77" y="33"/>
                  <a:pt x="73" y="34"/>
                </a:cubicBezTo>
                <a:cubicBezTo>
                  <a:pt x="70" y="35"/>
                  <a:pt x="67" y="36"/>
                  <a:pt x="64" y="38"/>
                </a:cubicBezTo>
                <a:cubicBezTo>
                  <a:pt x="61" y="39"/>
                  <a:pt x="57" y="39"/>
                  <a:pt x="53" y="37"/>
                </a:cubicBezTo>
                <a:cubicBezTo>
                  <a:pt x="39" y="26"/>
                  <a:pt x="39" y="26"/>
                  <a:pt x="39" y="26"/>
                </a:cubicBezTo>
                <a:cubicBezTo>
                  <a:pt x="27" y="38"/>
                  <a:pt x="27" y="38"/>
                  <a:pt x="27" y="38"/>
                </a:cubicBezTo>
                <a:cubicBezTo>
                  <a:pt x="37" y="53"/>
                  <a:pt x="37" y="53"/>
                  <a:pt x="37" y="53"/>
                </a:cubicBezTo>
                <a:cubicBezTo>
                  <a:pt x="40" y="56"/>
                  <a:pt x="40" y="60"/>
                  <a:pt x="38" y="64"/>
                </a:cubicBezTo>
                <a:cubicBezTo>
                  <a:pt x="37" y="67"/>
                  <a:pt x="35" y="70"/>
                  <a:pt x="34" y="73"/>
                </a:cubicBezTo>
                <a:cubicBezTo>
                  <a:pt x="33" y="77"/>
                  <a:pt x="30" y="79"/>
                  <a:pt x="26" y="80"/>
                </a:cubicBezTo>
                <a:cubicBezTo>
                  <a:pt x="9" y="83"/>
                  <a:pt x="9" y="83"/>
                  <a:pt x="9" y="83"/>
                </a:cubicBezTo>
                <a:cubicBezTo>
                  <a:pt x="9" y="100"/>
                  <a:pt x="9" y="100"/>
                  <a:pt x="9" y="100"/>
                </a:cubicBezTo>
                <a:cubicBezTo>
                  <a:pt x="26" y="103"/>
                  <a:pt x="26" y="103"/>
                  <a:pt x="26" y="103"/>
                </a:cubicBezTo>
                <a:cubicBezTo>
                  <a:pt x="30" y="103"/>
                  <a:pt x="33" y="106"/>
                  <a:pt x="34" y="110"/>
                </a:cubicBezTo>
                <a:cubicBezTo>
                  <a:pt x="35" y="113"/>
                  <a:pt x="37" y="116"/>
                  <a:pt x="38" y="119"/>
                </a:cubicBezTo>
                <a:cubicBezTo>
                  <a:pt x="40" y="122"/>
                  <a:pt x="40" y="126"/>
                  <a:pt x="37" y="130"/>
                </a:cubicBezTo>
                <a:cubicBezTo>
                  <a:pt x="27" y="144"/>
                  <a:pt x="27" y="144"/>
                  <a:pt x="27" y="144"/>
                </a:cubicBezTo>
                <a:cubicBezTo>
                  <a:pt x="39" y="156"/>
                  <a:pt x="39" y="156"/>
                  <a:pt x="39" y="156"/>
                </a:cubicBezTo>
                <a:cubicBezTo>
                  <a:pt x="53" y="146"/>
                  <a:pt x="53" y="146"/>
                  <a:pt x="53" y="146"/>
                </a:cubicBezTo>
                <a:cubicBezTo>
                  <a:pt x="57" y="143"/>
                  <a:pt x="61" y="143"/>
                  <a:pt x="64" y="145"/>
                </a:cubicBezTo>
                <a:cubicBezTo>
                  <a:pt x="67" y="146"/>
                  <a:pt x="70" y="148"/>
                  <a:pt x="73" y="149"/>
                </a:cubicBezTo>
                <a:cubicBezTo>
                  <a:pt x="77" y="150"/>
                  <a:pt x="80" y="153"/>
                  <a:pt x="81" y="157"/>
                </a:cubicBezTo>
                <a:lnTo>
                  <a:pt x="83" y="174"/>
                </a:lnTo>
                <a:close/>
                <a:moveTo>
                  <a:pt x="27" y="144"/>
                </a:moveTo>
                <a:cubicBezTo>
                  <a:pt x="27" y="144"/>
                  <a:pt x="27" y="144"/>
                  <a:pt x="27" y="144"/>
                </a:cubicBezTo>
                <a:cubicBezTo>
                  <a:pt x="27" y="144"/>
                  <a:pt x="27" y="144"/>
                  <a:pt x="27" y="144"/>
                </a:cubicBezTo>
                <a:close/>
                <a:moveTo>
                  <a:pt x="157" y="144"/>
                </a:moveTo>
                <a:cubicBezTo>
                  <a:pt x="157" y="144"/>
                  <a:pt x="157" y="144"/>
                  <a:pt x="157" y="144"/>
                </a:cubicBezTo>
                <a:close/>
                <a:moveTo>
                  <a:pt x="175" y="100"/>
                </a:moveTo>
                <a:cubicBezTo>
                  <a:pt x="175" y="100"/>
                  <a:pt x="175" y="100"/>
                  <a:pt x="175" y="100"/>
                </a:cubicBezTo>
                <a:close/>
                <a:moveTo>
                  <a:pt x="9" y="100"/>
                </a:moveTo>
                <a:cubicBezTo>
                  <a:pt x="9" y="100"/>
                  <a:pt x="9" y="100"/>
                  <a:pt x="9" y="100"/>
                </a:cubicBezTo>
                <a:close/>
                <a:moveTo>
                  <a:pt x="175" y="100"/>
                </a:moveTo>
                <a:cubicBezTo>
                  <a:pt x="175" y="100"/>
                  <a:pt x="175" y="100"/>
                  <a:pt x="175" y="100"/>
                </a:cubicBezTo>
                <a:close/>
                <a:moveTo>
                  <a:pt x="8" y="100"/>
                </a:move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lose/>
                <a:moveTo>
                  <a:pt x="145" y="26"/>
                </a:moveTo>
                <a:cubicBezTo>
                  <a:pt x="145" y="26"/>
                  <a:pt x="145" y="26"/>
                  <a:pt x="145" y="26"/>
                </a:cubicBezTo>
                <a:cubicBezTo>
                  <a:pt x="145" y="26"/>
                  <a:pt x="145" y="26"/>
                  <a:pt x="145" y="26"/>
                </a:cubicBezTo>
                <a:close/>
                <a:moveTo>
                  <a:pt x="144" y="26"/>
                </a:moveTo>
                <a:cubicBezTo>
                  <a:pt x="144" y="26"/>
                  <a:pt x="144" y="26"/>
                  <a:pt x="144" y="26"/>
                </a:cubicBezTo>
                <a:close/>
                <a:moveTo>
                  <a:pt x="92" y="128"/>
                </a:moveTo>
                <a:cubicBezTo>
                  <a:pt x="82" y="128"/>
                  <a:pt x="73" y="124"/>
                  <a:pt x="66" y="117"/>
                </a:cubicBezTo>
                <a:cubicBezTo>
                  <a:pt x="57" y="108"/>
                  <a:pt x="54" y="95"/>
                  <a:pt x="56" y="83"/>
                </a:cubicBezTo>
                <a:cubicBezTo>
                  <a:pt x="59" y="69"/>
                  <a:pt x="70" y="59"/>
                  <a:pt x="84" y="56"/>
                </a:cubicBezTo>
                <a:cubicBezTo>
                  <a:pt x="96" y="53"/>
                  <a:pt x="109" y="57"/>
                  <a:pt x="118" y="65"/>
                </a:cubicBezTo>
                <a:cubicBezTo>
                  <a:pt x="126" y="74"/>
                  <a:pt x="130" y="87"/>
                  <a:pt x="127" y="99"/>
                </a:cubicBezTo>
                <a:cubicBezTo>
                  <a:pt x="124" y="113"/>
                  <a:pt x="114" y="124"/>
                  <a:pt x="100" y="127"/>
                </a:cubicBezTo>
                <a:cubicBezTo>
                  <a:pt x="97" y="127"/>
                  <a:pt x="95" y="128"/>
                  <a:pt x="92" y="128"/>
                </a:cubicBezTo>
                <a:close/>
                <a:moveTo>
                  <a:pt x="92" y="63"/>
                </a:moveTo>
                <a:cubicBezTo>
                  <a:pt x="90" y="63"/>
                  <a:pt x="88" y="63"/>
                  <a:pt x="85" y="64"/>
                </a:cubicBezTo>
                <a:cubicBezTo>
                  <a:pt x="75" y="66"/>
                  <a:pt x="67" y="74"/>
                  <a:pt x="65" y="85"/>
                </a:cubicBezTo>
                <a:cubicBezTo>
                  <a:pt x="62" y="94"/>
                  <a:pt x="65" y="104"/>
                  <a:pt x="72" y="111"/>
                </a:cubicBezTo>
                <a:cubicBezTo>
                  <a:pt x="79" y="118"/>
                  <a:pt x="89" y="121"/>
                  <a:pt x="98" y="119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109" y="116"/>
                  <a:pt x="117" y="108"/>
                  <a:pt x="119" y="98"/>
                </a:cubicBezTo>
                <a:cubicBezTo>
                  <a:pt x="121" y="88"/>
                  <a:pt x="118" y="78"/>
                  <a:pt x="112" y="71"/>
                </a:cubicBezTo>
                <a:cubicBezTo>
                  <a:pt x="106" y="66"/>
                  <a:pt x="99" y="63"/>
                  <a:pt x="92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2" name="Google Shape;574;p21"/>
          <p:cNvSpPr>
            <a:spLocks/>
          </p:cNvSpPr>
          <p:nvPr/>
        </p:nvSpPr>
        <p:spPr bwMode="auto">
          <a:xfrm>
            <a:off x="4194175" y="4702175"/>
            <a:ext cx="784225" cy="492125"/>
          </a:xfrm>
          <a:custGeom>
            <a:avLst/>
            <a:gdLst>
              <a:gd name="T0" fmla="*/ 168 w 193"/>
              <a:gd name="T1" fmla="*/ 121 h 121"/>
              <a:gd name="T2" fmla="*/ 24 w 193"/>
              <a:gd name="T3" fmla="*/ 121 h 121"/>
              <a:gd name="T4" fmla="*/ 0 w 193"/>
              <a:gd name="T5" fmla="*/ 97 h 121"/>
              <a:gd name="T6" fmla="*/ 0 w 193"/>
              <a:gd name="T7" fmla="*/ 24 h 121"/>
              <a:gd name="T8" fmla="*/ 24 w 193"/>
              <a:gd name="T9" fmla="*/ 0 h 121"/>
              <a:gd name="T10" fmla="*/ 168 w 193"/>
              <a:gd name="T11" fmla="*/ 0 h 121"/>
              <a:gd name="T12" fmla="*/ 193 w 193"/>
              <a:gd name="T13" fmla="*/ 24 h 121"/>
              <a:gd name="T14" fmla="*/ 193 w 193"/>
              <a:gd name="T15" fmla="*/ 97 h 121"/>
              <a:gd name="T16" fmla="*/ 168 w 193"/>
              <a:gd name="T17" fmla="*/ 121 h 121"/>
              <a:gd name="T18" fmla="*/ 24 w 193"/>
              <a:gd name="T19" fmla="*/ 7 h 121"/>
              <a:gd name="T20" fmla="*/ 7 w 193"/>
              <a:gd name="T21" fmla="*/ 24 h 121"/>
              <a:gd name="T22" fmla="*/ 7 w 193"/>
              <a:gd name="T23" fmla="*/ 97 h 121"/>
              <a:gd name="T24" fmla="*/ 24 w 193"/>
              <a:gd name="T25" fmla="*/ 113 h 121"/>
              <a:gd name="T26" fmla="*/ 168 w 193"/>
              <a:gd name="T27" fmla="*/ 113 h 121"/>
              <a:gd name="T28" fmla="*/ 185 w 193"/>
              <a:gd name="T29" fmla="*/ 97 h 121"/>
              <a:gd name="T30" fmla="*/ 185 w 193"/>
              <a:gd name="T31" fmla="*/ 24 h 121"/>
              <a:gd name="T32" fmla="*/ 168 w 193"/>
              <a:gd name="T33" fmla="*/ 7 h 121"/>
              <a:gd name="T34" fmla="*/ 24 w 193"/>
              <a:gd name="T35" fmla="*/ 7 h 121"/>
              <a:gd name="T36" fmla="*/ 165 w 193"/>
              <a:gd name="T37" fmla="*/ 102 h 121"/>
              <a:gd name="T38" fmla="*/ 163 w 193"/>
              <a:gd name="T39" fmla="*/ 101 h 121"/>
              <a:gd name="T40" fmla="*/ 120 w 193"/>
              <a:gd name="T41" fmla="*/ 66 h 121"/>
              <a:gd name="T42" fmla="*/ 98 w 193"/>
              <a:gd name="T43" fmla="*/ 83 h 121"/>
              <a:gd name="T44" fmla="*/ 94 w 193"/>
              <a:gd name="T45" fmla="*/ 83 h 121"/>
              <a:gd name="T46" fmla="*/ 71 w 193"/>
              <a:gd name="T47" fmla="*/ 65 h 121"/>
              <a:gd name="T48" fmla="*/ 29 w 193"/>
              <a:gd name="T49" fmla="*/ 101 h 121"/>
              <a:gd name="T50" fmla="*/ 24 w 193"/>
              <a:gd name="T51" fmla="*/ 100 h 121"/>
              <a:gd name="T52" fmla="*/ 24 w 193"/>
              <a:gd name="T53" fmla="*/ 95 h 121"/>
              <a:gd name="T54" fmla="*/ 65 w 193"/>
              <a:gd name="T55" fmla="*/ 61 h 121"/>
              <a:gd name="T56" fmla="*/ 24 w 193"/>
              <a:gd name="T57" fmla="*/ 29 h 121"/>
              <a:gd name="T58" fmla="*/ 24 w 193"/>
              <a:gd name="T59" fmla="*/ 23 h 121"/>
              <a:gd name="T60" fmla="*/ 29 w 193"/>
              <a:gd name="T61" fmla="*/ 23 h 121"/>
              <a:gd name="T62" fmla="*/ 96 w 193"/>
              <a:gd name="T63" fmla="*/ 75 h 121"/>
              <a:gd name="T64" fmla="*/ 163 w 193"/>
              <a:gd name="T65" fmla="*/ 23 h 121"/>
              <a:gd name="T66" fmla="*/ 168 w 193"/>
              <a:gd name="T67" fmla="*/ 23 h 121"/>
              <a:gd name="T68" fmla="*/ 168 w 193"/>
              <a:gd name="T69" fmla="*/ 29 h 121"/>
              <a:gd name="T70" fmla="*/ 127 w 193"/>
              <a:gd name="T71" fmla="*/ 61 h 121"/>
              <a:gd name="T72" fmla="*/ 168 w 193"/>
              <a:gd name="T73" fmla="*/ 95 h 121"/>
              <a:gd name="T74" fmla="*/ 168 w 193"/>
              <a:gd name="T75" fmla="*/ 100 h 121"/>
              <a:gd name="T76" fmla="*/ 165 w 193"/>
              <a:gd name="T77" fmla="*/ 102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3" h="121" extrusionOk="0">
                <a:moveTo>
                  <a:pt x="168" y="121"/>
                </a:moveTo>
                <a:cubicBezTo>
                  <a:pt x="24" y="121"/>
                  <a:pt x="24" y="121"/>
                  <a:pt x="24" y="121"/>
                </a:cubicBezTo>
                <a:cubicBezTo>
                  <a:pt x="11" y="121"/>
                  <a:pt x="0" y="110"/>
                  <a:pt x="0" y="9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0"/>
                  <a:pt x="11" y="0"/>
                  <a:pt x="24" y="0"/>
                </a:cubicBezTo>
                <a:cubicBezTo>
                  <a:pt x="168" y="0"/>
                  <a:pt x="168" y="0"/>
                  <a:pt x="168" y="0"/>
                </a:cubicBezTo>
                <a:cubicBezTo>
                  <a:pt x="182" y="0"/>
                  <a:pt x="193" y="10"/>
                  <a:pt x="193" y="24"/>
                </a:cubicBezTo>
                <a:cubicBezTo>
                  <a:pt x="193" y="97"/>
                  <a:pt x="193" y="97"/>
                  <a:pt x="193" y="97"/>
                </a:cubicBezTo>
                <a:cubicBezTo>
                  <a:pt x="193" y="110"/>
                  <a:pt x="182" y="121"/>
                  <a:pt x="168" y="121"/>
                </a:cubicBezTo>
                <a:close/>
                <a:moveTo>
                  <a:pt x="24" y="7"/>
                </a:moveTo>
                <a:cubicBezTo>
                  <a:pt x="15" y="7"/>
                  <a:pt x="7" y="15"/>
                  <a:pt x="7" y="24"/>
                </a:cubicBezTo>
                <a:cubicBezTo>
                  <a:pt x="7" y="97"/>
                  <a:pt x="7" y="97"/>
                  <a:pt x="7" y="97"/>
                </a:cubicBezTo>
                <a:cubicBezTo>
                  <a:pt x="7" y="106"/>
                  <a:pt x="15" y="113"/>
                  <a:pt x="24" y="113"/>
                </a:cubicBezTo>
                <a:cubicBezTo>
                  <a:pt x="168" y="113"/>
                  <a:pt x="168" y="113"/>
                  <a:pt x="168" y="113"/>
                </a:cubicBezTo>
                <a:cubicBezTo>
                  <a:pt x="178" y="113"/>
                  <a:pt x="185" y="106"/>
                  <a:pt x="185" y="97"/>
                </a:cubicBezTo>
                <a:cubicBezTo>
                  <a:pt x="185" y="24"/>
                  <a:pt x="185" y="24"/>
                  <a:pt x="185" y="24"/>
                </a:cubicBezTo>
                <a:cubicBezTo>
                  <a:pt x="185" y="15"/>
                  <a:pt x="178" y="7"/>
                  <a:pt x="168" y="7"/>
                </a:cubicBezTo>
                <a:lnTo>
                  <a:pt x="24" y="7"/>
                </a:lnTo>
                <a:close/>
                <a:moveTo>
                  <a:pt x="165" y="102"/>
                </a:moveTo>
                <a:cubicBezTo>
                  <a:pt x="164" y="102"/>
                  <a:pt x="164" y="102"/>
                  <a:pt x="163" y="101"/>
                </a:cubicBezTo>
                <a:cubicBezTo>
                  <a:pt x="120" y="66"/>
                  <a:pt x="120" y="66"/>
                  <a:pt x="120" y="66"/>
                </a:cubicBezTo>
                <a:cubicBezTo>
                  <a:pt x="98" y="83"/>
                  <a:pt x="98" y="83"/>
                  <a:pt x="98" y="83"/>
                </a:cubicBezTo>
                <a:cubicBezTo>
                  <a:pt x="97" y="84"/>
                  <a:pt x="95" y="84"/>
                  <a:pt x="94" y="83"/>
                </a:cubicBezTo>
                <a:cubicBezTo>
                  <a:pt x="71" y="65"/>
                  <a:pt x="71" y="65"/>
                  <a:pt x="71" y="65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7" y="102"/>
                  <a:pt x="25" y="102"/>
                  <a:pt x="24" y="100"/>
                </a:cubicBezTo>
                <a:cubicBezTo>
                  <a:pt x="22" y="99"/>
                  <a:pt x="22" y="96"/>
                  <a:pt x="24" y="95"/>
                </a:cubicBezTo>
                <a:cubicBezTo>
                  <a:pt x="65" y="61"/>
                  <a:pt x="65" y="61"/>
                  <a:pt x="65" y="61"/>
                </a:cubicBezTo>
                <a:cubicBezTo>
                  <a:pt x="24" y="29"/>
                  <a:pt x="24" y="29"/>
                  <a:pt x="24" y="29"/>
                </a:cubicBezTo>
                <a:cubicBezTo>
                  <a:pt x="23" y="27"/>
                  <a:pt x="22" y="25"/>
                  <a:pt x="24" y="23"/>
                </a:cubicBezTo>
                <a:cubicBezTo>
                  <a:pt x="25" y="22"/>
                  <a:pt x="27" y="21"/>
                  <a:pt x="29" y="23"/>
                </a:cubicBezTo>
                <a:cubicBezTo>
                  <a:pt x="96" y="75"/>
                  <a:pt x="96" y="75"/>
                  <a:pt x="96" y="75"/>
                </a:cubicBezTo>
                <a:cubicBezTo>
                  <a:pt x="163" y="23"/>
                  <a:pt x="163" y="23"/>
                  <a:pt x="163" y="23"/>
                </a:cubicBezTo>
                <a:cubicBezTo>
                  <a:pt x="165" y="21"/>
                  <a:pt x="167" y="22"/>
                  <a:pt x="168" y="23"/>
                </a:cubicBezTo>
                <a:cubicBezTo>
                  <a:pt x="170" y="25"/>
                  <a:pt x="169" y="27"/>
                  <a:pt x="168" y="29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68" y="95"/>
                  <a:pt x="168" y="95"/>
                  <a:pt x="168" y="95"/>
                </a:cubicBezTo>
                <a:cubicBezTo>
                  <a:pt x="169" y="96"/>
                  <a:pt x="170" y="99"/>
                  <a:pt x="168" y="100"/>
                </a:cubicBezTo>
                <a:cubicBezTo>
                  <a:pt x="167" y="101"/>
                  <a:pt x="166" y="102"/>
                  <a:pt x="165" y="1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3" name="Google Shape;575;p21"/>
          <p:cNvSpPr>
            <a:spLocks/>
          </p:cNvSpPr>
          <p:nvPr/>
        </p:nvSpPr>
        <p:spPr bwMode="auto">
          <a:xfrm>
            <a:off x="7223125" y="1560513"/>
            <a:ext cx="768350" cy="666750"/>
          </a:xfrm>
          <a:custGeom>
            <a:avLst/>
            <a:gdLst>
              <a:gd name="T0" fmla="*/ 22 w 189"/>
              <a:gd name="T1" fmla="*/ 164 h 164"/>
              <a:gd name="T2" fmla="*/ 0 w 189"/>
              <a:gd name="T3" fmla="*/ 106 h 164"/>
              <a:gd name="T4" fmla="*/ 9 w 189"/>
              <a:gd name="T5" fmla="*/ 106 h 164"/>
              <a:gd name="T6" fmla="*/ 22 w 189"/>
              <a:gd name="T7" fmla="*/ 156 h 164"/>
              <a:gd name="T8" fmla="*/ 181 w 189"/>
              <a:gd name="T9" fmla="*/ 142 h 164"/>
              <a:gd name="T10" fmla="*/ 185 w 189"/>
              <a:gd name="T11" fmla="*/ 103 h 164"/>
              <a:gd name="T12" fmla="*/ 189 w 189"/>
              <a:gd name="T13" fmla="*/ 142 h 164"/>
              <a:gd name="T14" fmla="*/ 102 w 189"/>
              <a:gd name="T15" fmla="*/ 118 h 164"/>
              <a:gd name="T16" fmla="*/ 76 w 189"/>
              <a:gd name="T17" fmla="*/ 106 h 164"/>
              <a:gd name="T18" fmla="*/ 87 w 189"/>
              <a:gd name="T19" fmla="*/ 76 h 164"/>
              <a:gd name="T20" fmla="*/ 113 w 189"/>
              <a:gd name="T21" fmla="*/ 88 h 164"/>
              <a:gd name="T22" fmla="*/ 102 w 189"/>
              <a:gd name="T23" fmla="*/ 118 h 164"/>
              <a:gd name="T24" fmla="*/ 85 w 189"/>
              <a:gd name="T25" fmla="*/ 88 h 164"/>
              <a:gd name="T26" fmla="*/ 87 w 189"/>
              <a:gd name="T27" fmla="*/ 109 h 164"/>
              <a:gd name="T28" fmla="*/ 105 w 189"/>
              <a:gd name="T29" fmla="*/ 106 h 164"/>
              <a:gd name="T30" fmla="*/ 102 w 189"/>
              <a:gd name="T31" fmla="*/ 84 h 164"/>
              <a:gd name="T32" fmla="*/ 167 w 189"/>
              <a:gd name="T33" fmla="*/ 101 h 164"/>
              <a:gd name="T34" fmla="*/ 121 w 189"/>
              <a:gd name="T35" fmla="*/ 97 h 164"/>
              <a:gd name="T36" fmla="*/ 167 w 189"/>
              <a:gd name="T37" fmla="*/ 93 h 164"/>
              <a:gd name="T38" fmla="*/ 181 w 189"/>
              <a:gd name="T39" fmla="*/ 51 h 164"/>
              <a:gd name="T40" fmla="*/ 22 w 189"/>
              <a:gd name="T41" fmla="*/ 38 h 164"/>
              <a:gd name="T42" fmla="*/ 9 w 189"/>
              <a:gd name="T43" fmla="*/ 79 h 164"/>
              <a:gd name="T44" fmla="*/ 65 w 189"/>
              <a:gd name="T45" fmla="*/ 93 h 164"/>
              <a:gd name="T46" fmla="*/ 65 w 189"/>
              <a:gd name="T47" fmla="*/ 101 h 164"/>
              <a:gd name="T48" fmla="*/ 0 w 189"/>
              <a:gd name="T49" fmla="*/ 79 h 164"/>
              <a:gd name="T50" fmla="*/ 22 w 189"/>
              <a:gd name="T51" fmla="*/ 29 h 164"/>
              <a:gd name="T52" fmla="*/ 189 w 189"/>
              <a:gd name="T53" fmla="*/ 51 h 164"/>
              <a:gd name="T54" fmla="*/ 189 w 189"/>
              <a:gd name="T55" fmla="*/ 84 h 164"/>
              <a:gd name="T56" fmla="*/ 126 w 189"/>
              <a:gd name="T57" fmla="*/ 22 h 164"/>
              <a:gd name="T58" fmla="*/ 111 w 189"/>
              <a:gd name="T59" fmla="*/ 8 h 164"/>
              <a:gd name="T60" fmla="*/ 68 w 189"/>
              <a:gd name="T61" fmla="*/ 18 h 164"/>
              <a:gd name="T62" fmla="*/ 59 w 189"/>
              <a:gd name="T63" fmla="*/ 18 h 164"/>
              <a:gd name="T64" fmla="*/ 111 w 189"/>
              <a:gd name="T65" fmla="*/ 0 h 164"/>
              <a:gd name="T66" fmla="*/ 126 w 189"/>
              <a:gd name="T67" fmla="*/ 22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9" h="164" extrusionOk="0">
                <a:moveTo>
                  <a:pt x="167" y="164"/>
                </a:moveTo>
                <a:cubicBezTo>
                  <a:pt x="22" y="164"/>
                  <a:pt x="22" y="164"/>
                  <a:pt x="22" y="164"/>
                </a:cubicBezTo>
                <a:cubicBezTo>
                  <a:pt x="10" y="164"/>
                  <a:pt x="0" y="155"/>
                  <a:pt x="0" y="142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04"/>
                  <a:pt x="2" y="102"/>
                  <a:pt x="4" y="102"/>
                </a:cubicBezTo>
                <a:cubicBezTo>
                  <a:pt x="7" y="102"/>
                  <a:pt x="9" y="104"/>
                  <a:pt x="9" y="106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50"/>
                  <a:pt x="15" y="156"/>
                  <a:pt x="22" y="156"/>
                </a:cubicBezTo>
                <a:cubicBezTo>
                  <a:pt x="167" y="156"/>
                  <a:pt x="167" y="156"/>
                  <a:pt x="167" y="156"/>
                </a:cubicBezTo>
                <a:cubicBezTo>
                  <a:pt x="175" y="156"/>
                  <a:pt x="181" y="150"/>
                  <a:pt x="181" y="142"/>
                </a:cubicBezTo>
                <a:cubicBezTo>
                  <a:pt x="181" y="107"/>
                  <a:pt x="181" y="107"/>
                  <a:pt x="181" y="107"/>
                </a:cubicBezTo>
                <a:cubicBezTo>
                  <a:pt x="181" y="105"/>
                  <a:pt x="183" y="103"/>
                  <a:pt x="185" y="103"/>
                </a:cubicBezTo>
                <a:cubicBezTo>
                  <a:pt x="187" y="103"/>
                  <a:pt x="189" y="105"/>
                  <a:pt x="189" y="107"/>
                </a:cubicBezTo>
                <a:cubicBezTo>
                  <a:pt x="189" y="142"/>
                  <a:pt x="189" y="142"/>
                  <a:pt x="189" y="142"/>
                </a:cubicBezTo>
                <a:cubicBezTo>
                  <a:pt x="189" y="155"/>
                  <a:pt x="179" y="164"/>
                  <a:pt x="167" y="164"/>
                </a:cubicBezTo>
                <a:close/>
                <a:moveTo>
                  <a:pt x="102" y="118"/>
                </a:moveTo>
                <a:cubicBezTo>
                  <a:pt x="87" y="118"/>
                  <a:pt x="87" y="118"/>
                  <a:pt x="87" y="118"/>
                </a:cubicBezTo>
                <a:cubicBezTo>
                  <a:pt x="81" y="118"/>
                  <a:pt x="76" y="112"/>
                  <a:pt x="76" y="106"/>
                </a:cubicBezTo>
                <a:cubicBezTo>
                  <a:pt x="76" y="88"/>
                  <a:pt x="76" y="88"/>
                  <a:pt x="76" y="88"/>
                </a:cubicBezTo>
                <a:cubicBezTo>
                  <a:pt x="76" y="81"/>
                  <a:pt x="81" y="76"/>
                  <a:pt x="87" y="76"/>
                </a:cubicBezTo>
                <a:cubicBezTo>
                  <a:pt x="102" y="76"/>
                  <a:pt x="102" y="76"/>
                  <a:pt x="102" y="76"/>
                </a:cubicBezTo>
                <a:cubicBezTo>
                  <a:pt x="108" y="76"/>
                  <a:pt x="113" y="81"/>
                  <a:pt x="113" y="88"/>
                </a:cubicBezTo>
                <a:cubicBezTo>
                  <a:pt x="113" y="106"/>
                  <a:pt x="113" y="106"/>
                  <a:pt x="113" y="106"/>
                </a:cubicBezTo>
                <a:cubicBezTo>
                  <a:pt x="113" y="112"/>
                  <a:pt x="108" y="118"/>
                  <a:pt x="102" y="118"/>
                </a:cubicBezTo>
                <a:close/>
                <a:moveTo>
                  <a:pt x="87" y="84"/>
                </a:moveTo>
                <a:cubicBezTo>
                  <a:pt x="86" y="84"/>
                  <a:pt x="85" y="86"/>
                  <a:pt x="85" y="88"/>
                </a:cubicBezTo>
                <a:cubicBezTo>
                  <a:pt x="85" y="106"/>
                  <a:pt x="85" y="106"/>
                  <a:pt x="85" y="106"/>
                </a:cubicBezTo>
                <a:cubicBezTo>
                  <a:pt x="85" y="108"/>
                  <a:pt x="86" y="109"/>
                  <a:pt x="87" y="109"/>
                </a:cubicBezTo>
                <a:cubicBezTo>
                  <a:pt x="102" y="109"/>
                  <a:pt x="102" y="109"/>
                  <a:pt x="102" y="109"/>
                </a:cubicBezTo>
                <a:cubicBezTo>
                  <a:pt x="104" y="109"/>
                  <a:pt x="105" y="108"/>
                  <a:pt x="105" y="106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105" y="86"/>
                  <a:pt x="104" y="84"/>
                  <a:pt x="102" y="84"/>
                </a:cubicBezTo>
                <a:lnTo>
                  <a:pt x="87" y="84"/>
                </a:lnTo>
                <a:close/>
                <a:moveTo>
                  <a:pt x="167" y="101"/>
                </a:moveTo>
                <a:cubicBezTo>
                  <a:pt x="125" y="101"/>
                  <a:pt x="125" y="101"/>
                  <a:pt x="125" y="101"/>
                </a:cubicBezTo>
                <a:cubicBezTo>
                  <a:pt x="122" y="101"/>
                  <a:pt x="121" y="99"/>
                  <a:pt x="121" y="97"/>
                </a:cubicBezTo>
                <a:cubicBezTo>
                  <a:pt x="121" y="95"/>
                  <a:pt x="122" y="93"/>
                  <a:pt x="125" y="93"/>
                </a:cubicBezTo>
                <a:cubicBezTo>
                  <a:pt x="167" y="93"/>
                  <a:pt x="167" y="93"/>
                  <a:pt x="167" y="93"/>
                </a:cubicBezTo>
                <a:cubicBezTo>
                  <a:pt x="175" y="93"/>
                  <a:pt x="181" y="87"/>
                  <a:pt x="181" y="79"/>
                </a:cubicBezTo>
                <a:cubicBezTo>
                  <a:pt x="181" y="51"/>
                  <a:pt x="181" y="51"/>
                  <a:pt x="181" y="51"/>
                </a:cubicBezTo>
                <a:cubicBezTo>
                  <a:pt x="181" y="44"/>
                  <a:pt x="175" y="38"/>
                  <a:pt x="167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15" y="38"/>
                  <a:pt x="9" y="44"/>
                  <a:pt x="9" y="51"/>
                </a:cubicBezTo>
                <a:cubicBezTo>
                  <a:pt x="9" y="79"/>
                  <a:pt x="9" y="79"/>
                  <a:pt x="9" y="79"/>
                </a:cubicBezTo>
                <a:cubicBezTo>
                  <a:pt x="9" y="87"/>
                  <a:pt x="15" y="93"/>
                  <a:pt x="22" y="93"/>
                </a:cubicBezTo>
                <a:cubicBezTo>
                  <a:pt x="65" y="93"/>
                  <a:pt x="65" y="93"/>
                  <a:pt x="65" y="93"/>
                </a:cubicBezTo>
                <a:cubicBezTo>
                  <a:pt x="67" y="93"/>
                  <a:pt x="69" y="95"/>
                  <a:pt x="69" y="97"/>
                </a:cubicBezTo>
                <a:cubicBezTo>
                  <a:pt x="69" y="99"/>
                  <a:pt x="67" y="101"/>
                  <a:pt x="65" y="101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10" y="101"/>
                  <a:pt x="0" y="91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9"/>
                  <a:pt x="10" y="29"/>
                  <a:pt x="22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9" y="29"/>
                  <a:pt x="189" y="39"/>
                  <a:pt x="189" y="51"/>
                </a:cubicBezTo>
                <a:cubicBezTo>
                  <a:pt x="189" y="82"/>
                  <a:pt x="189" y="82"/>
                  <a:pt x="189" y="82"/>
                </a:cubicBezTo>
                <a:cubicBezTo>
                  <a:pt x="189" y="83"/>
                  <a:pt x="189" y="84"/>
                  <a:pt x="189" y="84"/>
                </a:cubicBezTo>
                <a:cubicBezTo>
                  <a:pt x="186" y="94"/>
                  <a:pt x="178" y="101"/>
                  <a:pt x="167" y="101"/>
                </a:cubicBezTo>
                <a:close/>
                <a:moveTo>
                  <a:pt x="126" y="22"/>
                </a:moveTo>
                <a:cubicBezTo>
                  <a:pt x="124" y="22"/>
                  <a:pt x="122" y="20"/>
                  <a:pt x="122" y="18"/>
                </a:cubicBezTo>
                <a:cubicBezTo>
                  <a:pt x="122" y="13"/>
                  <a:pt x="117" y="8"/>
                  <a:pt x="111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73" y="8"/>
                  <a:pt x="68" y="13"/>
                  <a:pt x="68" y="18"/>
                </a:cubicBezTo>
                <a:cubicBezTo>
                  <a:pt x="68" y="20"/>
                  <a:pt x="66" y="22"/>
                  <a:pt x="63" y="22"/>
                </a:cubicBezTo>
                <a:cubicBezTo>
                  <a:pt x="61" y="22"/>
                  <a:pt x="59" y="20"/>
                  <a:pt x="59" y="18"/>
                </a:cubicBezTo>
                <a:cubicBezTo>
                  <a:pt x="59" y="8"/>
                  <a:pt x="68" y="0"/>
                  <a:pt x="79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21" y="0"/>
                  <a:pt x="130" y="8"/>
                  <a:pt x="130" y="18"/>
                </a:cubicBezTo>
                <a:cubicBezTo>
                  <a:pt x="130" y="20"/>
                  <a:pt x="128" y="22"/>
                  <a:pt x="126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4" name="Google Shape;576;p21"/>
          <p:cNvSpPr>
            <a:spLocks/>
          </p:cNvSpPr>
          <p:nvPr/>
        </p:nvSpPr>
        <p:spPr bwMode="auto">
          <a:xfrm>
            <a:off x="4222750" y="1490663"/>
            <a:ext cx="731838" cy="858837"/>
          </a:xfrm>
          <a:custGeom>
            <a:avLst/>
            <a:gdLst>
              <a:gd name="T0" fmla="*/ 74 w 180"/>
              <a:gd name="T1" fmla="*/ 211 h 211"/>
              <a:gd name="T2" fmla="*/ 74 w 180"/>
              <a:gd name="T3" fmla="*/ 203 h 211"/>
              <a:gd name="T4" fmla="*/ 107 w 180"/>
              <a:gd name="T5" fmla="*/ 207 h 211"/>
              <a:gd name="T6" fmla="*/ 112 w 180"/>
              <a:gd name="T7" fmla="*/ 197 h 211"/>
              <a:gd name="T8" fmla="*/ 62 w 180"/>
              <a:gd name="T9" fmla="*/ 194 h 211"/>
              <a:gd name="T10" fmla="*/ 112 w 180"/>
              <a:gd name="T11" fmla="*/ 190 h 211"/>
              <a:gd name="T12" fmla="*/ 112 w 180"/>
              <a:gd name="T13" fmla="*/ 197 h 211"/>
              <a:gd name="T14" fmla="*/ 71 w 180"/>
              <a:gd name="T15" fmla="*/ 183 h 211"/>
              <a:gd name="T16" fmla="*/ 57 w 180"/>
              <a:gd name="T17" fmla="*/ 173 h 211"/>
              <a:gd name="T18" fmla="*/ 55 w 180"/>
              <a:gd name="T19" fmla="*/ 153 h 211"/>
              <a:gd name="T20" fmla="*/ 31 w 180"/>
              <a:gd name="T21" fmla="*/ 78 h 211"/>
              <a:gd name="T22" fmla="*/ 146 w 180"/>
              <a:gd name="T23" fmla="*/ 78 h 211"/>
              <a:gd name="T24" fmla="*/ 122 w 180"/>
              <a:gd name="T25" fmla="*/ 153 h 211"/>
              <a:gd name="T26" fmla="*/ 119 w 180"/>
              <a:gd name="T27" fmla="*/ 173 h 211"/>
              <a:gd name="T28" fmla="*/ 88 w 180"/>
              <a:gd name="T29" fmla="*/ 183 h 211"/>
              <a:gd name="T30" fmla="*/ 105 w 180"/>
              <a:gd name="T31" fmla="*/ 175 h 211"/>
              <a:gd name="T32" fmla="*/ 112 w 180"/>
              <a:gd name="T33" fmla="*/ 163 h 211"/>
              <a:gd name="T34" fmla="*/ 131 w 180"/>
              <a:gd name="T35" fmla="*/ 119 h 211"/>
              <a:gd name="T36" fmla="*/ 88 w 180"/>
              <a:gd name="T37" fmla="*/ 46 h 211"/>
              <a:gd name="T38" fmla="*/ 45 w 180"/>
              <a:gd name="T39" fmla="*/ 119 h 211"/>
              <a:gd name="T40" fmla="*/ 64 w 180"/>
              <a:gd name="T41" fmla="*/ 163 h 211"/>
              <a:gd name="T42" fmla="*/ 71 w 180"/>
              <a:gd name="T43" fmla="*/ 175 h 211"/>
              <a:gd name="T44" fmla="*/ 19 w 180"/>
              <a:gd name="T45" fmla="*/ 97 h 211"/>
              <a:gd name="T46" fmla="*/ 0 w 180"/>
              <a:gd name="T47" fmla="*/ 93 h 211"/>
              <a:gd name="T48" fmla="*/ 19 w 180"/>
              <a:gd name="T49" fmla="*/ 89 h 211"/>
              <a:gd name="T50" fmla="*/ 19 w 180"/>
              <a:gd name="T51" fmla="*/ 97 h 211"/>
              <a:gd name="T52" fmla="*/ 157 w 180"/>
              <a:gd name="T53" fmla="*/ 94 h 211"/>
              <a:gd name="T54" fmla="*/ 157 w 180"/>
              <a:gd name="T55" fmla="*/ 86 h 211"/>
              <a:gd name="T56" fmla="*/ 180 w 180"/>
              <a:gd name="T57" fmla="*/ 90 h 211"/>
              <a:gd name="T58" fmla="*/ 53 w 180"/>
              <a:gd name="T59" fmla="*/ 91 h 211"/>
              <a:gd name="T60" fmla="*/ 49 w 180"/>
              <a:gd name="T61" fmla="*/ 86 h 211"/>
              <a:gd name="T62" fmla="*/ 90 w 180"/>
              <a:gd name="T63" fmla="*/ 57 h 211"/>
              <a:gd name="T64" fmla="*/ 90 w 180"/>
              <a:gd name="T65" fmla="*/ 65 h 211"/>
              <a:gd name="T66" fmla="*/ 53 w 180"/>
              <a:gd name="T67" fmla="*/ 91 h 211"/>
              <a:gd name="T68" fmla="*/ 136 w 180"/>
              <a:gd name="T69" fmla="*/ 47 h 211"/>
              <a:gd name="T70" fmla="*/ 149 w 180"/>
              <a:gd name="T71" fmla="*/ 28 h 211"/>
              <a:gd name="T72" fmla="*/ 155 w 180"/>
              <a:gd name="T73" fmla="*/ 33 h 211"/>
              <a:gd name="T74" fmla="*/ 139 w 180"/>
              <a:gd name="T75" fmla="*/ 48 h 211"/>
              <a:gd name="T76" fmla="*/ 36 w 180"/>
              <a:gd name="T77" fmla="*/ 47 h 211"/>
              <a:gd name="T78" fmla="*/ 23 w 180"/>
              <a:gd name="T79" fmla="*/ 28 h 211"/>
              <a:gd name="T80" fmla="*/ 42 w 180"/>
              <a:gd name="T81" fmla="*/ 41 h 211"/>
              <a:gd name="T82" fmla="*/ 39 w 180"/>
              <a:gd name="T83" fmla="*/ 48 h 211"/>
              <a:gd name="T84" fmla="*/ 84 w 180"/>
              <a:gd name="T85" fmla="*/ 26 h 211"/>
              <a:gd name="T86" fmla="*/ 88 w 180"/>
              <a:gd name="T87" fmla="*/ 0 h 211"/>
              <a:gd name="T88" fmla="*/ 92 w 180"/>
              <a:gd name="T89" fmla="*/ 2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80" h="211" extrusionOk="0">
                <a:moveTo>
                  <a:pt x="103" y="211"/>
                </a:moveTo>
                <a:cubicBezTo>
                  <a:pt x="74" y="211"/>
                  <a:pt x="74" y="211"/>
                  <a:pt x="74" y="211"/>
                </a:cubicBezTo>
                <a:cubicBezTo>
                  <a:pt x="72" y="211"/>
                  <a:pt x="70" y="209"/>
                  <a:pt x="70" y="207"/>
                </a:cubicBezTo>
                <a:cubicBezTo>
                  <a:pt x="70" y="205"/>
                  <a:pt x="72" y="203"/>
                  <a:pt x="74" y="203"/>
                </a:cubicBezTo>
                <a:cubicBezTo>
                  <a:pt x="103" y="203"/>
                  <a:pt x="103" y="203"/>
                  <a:pt x="103" y="203"/>
                </a:cubicBezTo>
                <a:cubicBezTo>
                  <a:pt x="106" y="203"/>
                  <a:pt x="107" y="205"/>
                  <a:pt x="107" y="207"/>
                </a:cubicBezTo>
                <a:cubicBezTo>
                  <a:pt x="107" y="209"/>
                  <a:pt x="106" y="211"/>
                  <a:pt x="103" y="211"/>
                </a:cubicBezTo>
                <a:close/>
                <a:moveTo>
                  <a:pt x="112" y="197"/>
                </a:moveTo>
                <a:cubicBezTo>
                  <a:pt x="66" y="197"/>
                  <a:pt x="66" y="197"/>
                  <a:pt x="66" y="197"/>
                </a:cubicBezTo>
                <a:cubicBezTo>
                  <a:pt x="64" y="197"/>
                  <a:pt x="62" y="196"/>
                  <a:pt x="62" y="194"/>
                </a:cubicBezTo>
                <a:cubicBezTo>
                  <a:pt x="62" y="191"/>
                  <a:pt x="64" y="190"/>
                  <a:pt x="66" y="190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4" y="190"/>
                  <a:pt x="116" y="191"/>
                  <a:pt x="116" y="194"/>
                </a:cubicBezTo>
                <a:cubicBezTo>
                  <a:pt x="116" y="196"/>
                  <a:pt x="114" y="197"/>
                  <a:pt x="112" y="197"/>
                </a:cubicBezTo>
                <a:close/>
                <a:moveTo>
                  <a:pt x="88" y="183"/>
                </a:moveTo>
                <a:cubicBezTo>
                  <a:pt x="80" y="183"/>
                  <a:pt x="72" y="183"/>
                  <a:pt x="71" y="183"/>
                </a:cubicBezTo>
                <a:cubicBezTo>
                  <a:pt x="71" y="183"/>
                  <a:pt x="71" y="183"/>
                  <a:pt x="71" y="183"/>
                </a:cubicBezTo>
                <a:cubicBezTo>
                  <a:pt x="63" y="183"/>
                  <a:pt x="59" y="180"/>
                  <a:pt x="57" y="173"/>
                </a:cubicBezTo>
                <a:cubicBezTo>
                  <a:pt x="57" y="170"/>
                  <a:pt x="57" y="167"/>
                  <a:pt x="57" y="164"/>
                </a:cubicBezTo>
                <a:cubicBezTo>
                  <a:pt x="56" y="159"/>
                  <a:pt x="56" y="155"/>
                  <a:pt x="55" y="153"/>
                </a:cubicBezTo>
                <a:cubicBezTo>
                  <a:pt x="48" y="142"/>
                  <a:pt x="44" y="134"/>
                  <a:pt x="38" y="122"/>
                </a:cubicBezTo>
                <a:cubicBezTo>
                  <a:pt x="33" y="111"/>
                  <a:pt x="26" y="94"/>
                  <a:pt x="31" y="78"/>
                </a:cubicBezTo>
                <a:cubicBezTo>
                  <a:pt x="36" y="58"/>
                  <a:pt x="57" y="38"/>
                  <a:pt x="88" y="38"/>
                </a:cubicBezTo>
                <a:cubicBezTo>
                  <a:pt x="119" y="38"/>
                  <a:pt x="141" y="58"/>
                  <a:pt x="146" y="78"/>
                </a:cubicBezTo>
                <a:cubicBezTo>
                  <a:pt x="150" y="94"/>
                  <a:pt x="144" y="111"/>
                  <a:pt x="138" y="122"/>
                </a:cubicBezTo>
                <a:cubicBezTo>
                  <a:pt x="132" y="134"/>
                  <a:pt x="128" y="142"/>
                  <a:pt x="122" y="153"/>
                </a:cubicBezTo>
                <a:cubicBezTo>
                  <a:pt x="120" y="155"/>
                  <a:pt x="120" y="159"/>
                  <a:pt x="120" y="164"/>
                </a:cubicBezTo>
                <a:cubicBezTo>
                  <a:pt x="120" y="167"/>
                  <a:pt x="120" y="170"/>
                  <a:pt x="119" y="173"/>
                </a:cubicBezTo>
                <a:cubicBezTo>
                  <a:pt x="117" y="180"/>
                  <a:pt x="114" y="183"/>
                  <a:pt x="105" y="183"/>
                </a:cubicBezTo>
                <a:cubicBezTo>
                  <a:pt x="105" y="183"/>
                  <a:pt x="97" y="183"/>
                  <a:pt x="88" y="183"/>
                </a:cubicBezTo>
                <a:close/>
                <a:moveTo>
                  <a:pt x="71" y="175"/>
                </a:moveTo>
                <a:cubicBezTo>
                  <a:pt x="72" y="175"/>
                  <a:pt x="104" y="175"/>
                  <a:pt x="105" y="175"/>
                </a:cubicBezTo>
                <a:cubicBezTo>
                  <a:pt x="110" y="175"/>
                  <a:pt x="111" y="174"/>
                  <a:pt x="111" y="171"/>
                </a:cubicBezTo>
                <a:cubicBezTo>
                  <a:pt x="112" y="169"/>
                  <a:pt x="112" y="166"/>
                  <a:pt x="112" y="163"/>
                </a:cubicBezTo>
                <a:cubicBezTo>
                  <a:pt x="112" y="158"/>
                  <a:pt x="112" y="153"/>
                  <a:pt x="115" y="149"/>
                </a:cubicBezTo>
                <a:cubicBezTo>
                  <a:pt x="121" y="138"/>
                  <a:pt x="125" y="130"/>
                  <a:pt x="131" y="119"/>
                </a:cubicBezTo>
                <a:cubicBezTo>
                  <a:pt x="135" y="110"/>
                  <a:pt x="142" y="94"/>
                  <a:pt x="138" y="80"/>
                </a:cubicBezTo>
                <a:cubicBezTo>
                  <a:pt x="134" y="63"/>
                  <a:pt x="115" y="46"/>
                  <a:pt x="88" y="46"/>
                </a:cubicBezTo>
                <a:cubicBezTo>
                  <a:pt x="61" y="46"/>
                  <a:pt x="42" y="63"/>
                  <a:pt x="38" y="80"/>
                </a:cubicBezTo>
                <a:cubicBezTo>
                  <a:pt x="35" y="94"/>
                  <a:pt x="41" y="110"/>
                  <a:pt x="45" y="119"/>
                </a:cubicBezTo>
                <a:cubicBezTo>
                  <a:pt x="51" y="130"/>
                  <a:pt x="55" y="138"/>
                  <a:pt x="62" y="149"/>
                </a:cubicBezTo>
                <a:cubicBezTo>
                  <a:pt x="64" y="153"/>
                  <a:pt x="64" y="158"/>
                  <a:pt x="64" y="163"/>
                </a:cubicBezTo>
                <a:cubicBezTo>
                  <a:pt x="65" y="166"/>
                  <a:pt x="65" y="169"/>
                  <a:pt x="65" y="171"/>
                </a:cubicBezTo>
                <a:cubicBezTo>
                  <a:pt x="66" y="174"/>
                  <a:pt x="66" y="175"/>
                  <a:pt x="71" y="175"/>
                </a:cubicBezTo>
                <a:cubicBezTo>
                  <a:pt x="71" y="175"/>
                  <a:pt x="71" y="175"/>
                  <a:pt x="71" y="175"/>
                </a:cubicBezTo>
                <a:close/>
                <a:moveTo>
                  <a:pt x="19" y="97"/>
                </a:moveTo>
                <a:cubicBezTo>
                  <a:pt x="4" y="97"/>
                  <a:pt x="4" y="97"/>
                  <a:pt x="4" y="97"/>
                </a:cubicBezTo>
                <a:cubicBezTo>
                  <a:pt x="2" y="97"/>
                  <a:pt x="0" y="95"/>
                  <a:pt x="0" y="93"/>
                </a:cubicBezTo>
                <a:cubicBezTo>
                  <a:pt x="0" y="91"/>
                  <a:pt x="2" y="89"/>
                  <a:pt x="4" y="89"/>
                </a:cubicBezTo>
                <a:cubicBezTo>
                  <a:pt x="19" y="89"/>
                  <a:pt x="19" y="89"/>
                  <a:pt x="19" y="89"/>
                </a:cubicBezTo>
                <a:cubicBezTo>
                  <a:pt x="21" y="89"/>
                  <a:pt x="23" y="91"/>
                  <a:pt x="23" y="93"/>
                </a:cubicBezTo>
                <a:cubicBezTo>
                  <a:pt x="23" y="95"/>
                  <a:pt x="21" y="97"/>
                  <a:pt x="19" y="97"/>
                </a:cubicBezTo>
                <a:close/>
                <a:moveTo>
                  <a:pt x="176" y="94"/>
                </a:moveTo>
                <a:cubicBezTo>
                  <a:pt x="157" y="94"/>
                  <a:pt x="157" y="94"/>
                  <a:pt x="157" y="94"/>
                </a:cubicBezTo>
                <a:cubicBezTo>
                  <a:pt x="155" y="94"/>
                  <a:pt x="153" y="92"/>
                  <a:pt x="153" y="90"/>
                </a:cubicBezTo>
                <a:cubicBezTo>
                  <a:pt x="153" y="88"/>
                  <a:pt x="155" y="86"/>
                  <a:pt x="157" y="86"/>
                </a:cubicBezTo>
                <a:cubicBezTo>
                  <a:pt x="176" y="86"/>
                  <a:pt x="176" y="86"/>
                  <a:pt x="176" y="86"/>
                </a:cubicBezTo>
                <a:cubicBezTo>
                  <a:pt x="178" y="86"/>
                  <a:pt x="180" y="88"/>
                  <a:pt x="180" y="90"/>
                </a:cubicBezTo>
                <a:cubicBezTo>
                  <a:pt x="180" y="92"/>
                  <a:pt x="178" y="94"/>
                  <a:pt x="176" y="94"/>
                </a:cubicBezTo>
                <a:close/>
                <a:moveTo>
                  <a:pt x="53" y="91"/>
                </a:moveTo>
                <a:cubicBezTo>
                  <a:pt x="53" y="91"/>
                  <a:pt x="52" y="91"/>
                  <a:pt x="52" y="91"/>
                </a:cubicBezTo>
                <a:cubicBezTo>
                  <a:pt x="50" y="90"/>
                  <a:pt x="48" y="88"/>
                  <a:pt x="49" y="86"/>
                </a:cubicBezTo>
                <a:cubicBezTo>
                  <a:pt x="53" y="72"/>
                  <a:pt x="68" y="57"/>
                  <a:pt x="90" y="57"/>
                </a:cubicBezTo>
                <a:cubicBezTo>
                  <a:pt x="90" y="57"/>
                  <a:pt x="90" y="57"/>
                  <a:pt x="90" y="57"/>
                </a:cubicBezTo>
                <a:cubicBezTo>
                  <a:pt x="93" y="57"/>
                  <a:pt x="94" y="59"/>
                  <a:pt x="94" y="61"/>
                </a:cubicBezTo>
                <a:cubicBezTo>
                  <a:pt x="94" y="63"/>
                  <a:pt x="93" y="65"/>
                  <a:pt x="90" y="65"/>
                </a:cubicBezTo>
                <a:cubicBezTo>
                  <a:pt x="72" y="65"/>
                  <a:pt x="59" y="77"/>
                  <a:pt x="57" y="88"/>
                </a:cubicBezTo>
                <a:cubicBezTo>
                  <a:pt x="56" y="90"/>
                  <a:pt x="55" y="91"/>
                  <a:pt x="53" y="91"/>
                </a:cubicBezTo>
                <a:close/>
                <a:moveTo>
                  <a:pt x="139" y="48"/>
                </a:moveTo>
                <a:cubicBezTo>
                  <a:pt x="138" y="48"/>
                  <a:pt x="137" y="47"/>
                  <a:pt x="136" y="47"/>
                </a:cubicBezTo>
                <a:cubicBezTo>
                  <a:pt x="134" y="45"/>
                  <a:pt x="134" y="43"/>
                  <a:pt x="136" y="41"/>
                </a:cubicBezTo>
                <a:cubicBezTo>
                  <a:pt x="149" y="28"/>
                  <a:pt x="149" y="28"/>
                  <a:pt x="149" y="28"/>
                </a:cubicBezTo>
                <a:cubicBezTo>
                  <a:pt x="151" y="26"/>
                  <a:pt x="153" y="26"/>
                  <a:pt x="155" y="28"/>
                </a:cubicBezTo>
                <a:cubicBezTo>
                  <a:pt x="156" y="29"/>
                  <a:pt x="156" y="32"/>
                  <a:pt x="155" y="33"/>
                </a:cubicBezTo>
                <a:cubicBezTo>
                  <a:pt x="141" y="47"/>
                  <a:pt x="141" y="47"/>
                  <a:pt x="141" y="47"/>
                </a:cubicBezTo>
                <a:cubicBezTo>
                  <a:pt x="141" y="47"/>
                  <a:pt x="140" y="48"/>
                  <a:pt x="139" y="48"/>
                </a:cubicBezTo>
                <a:close/>
                <a:moveTo>
                  <a:pt x="39" y="48"/>
                </a:moveTo>
                <a:cubicBezTo>
                  <a:pt x="38" y="48"/>
                  <a:pt x="37" y="47"/>
                  <a:pt x="36" y="47"/>
                </a:cubicBezTo>
                <a:cubicBezTo>
                  <a:pt x="23" y="33"/>
                  <a:pt x="23" y="33"/>
                  <a:pt x="23" y="33"/>
                </a:cubicBezTo>
                <a:cubicBezTo>
                  <a:pt x="21" y="32"/>
                  <a:pt x="21" y="29"/>
                  <a:pt x="23" y="28"/>
                </a:cubicBezTo>
                <a:cubicBezTo>
                  <a:pt x="24" y="26"/>
                  <a:pt x="27" y="26"/>
                  <a:pt x="28" y="28"/>
                </a:cubicBezTo>
                <a:cubicBezTo>
                  <a:pt x="42" y="41"/>
                  <a:pt x="42" y="41"/>
                  <a:pt x="42" y="41"/>
                </a:cubicBezTo>
                <a:cubicBezTo>
                  <a:pt x="43" y="43"/>
                  <a:pt x="43" y="45"/>
                  <a:pt x="42" y="47"/>
                </a:cubicBezTo>
                <a:cubicBezTo>
                  <a:pt x="41" y="47"/>
                  <a:pt x="40" y="48"/>
                  <a:pt x="39" y="48"/>
                </a:cubicBezTo>
                <a:close/>
                <a:moveTo>
                  <a:pt x="88" y="30"/>
                </a:moveTo>
                <a:cubicBezTo>
                  <a:pt x="86" y="30"/>
                  <a:pt x="84" y="28"/>
                  <a:pt x="84" y="26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6" y="0"/>
                  <a:pt x="88" y="0"/>
                </a:cubicBezTo>
                <a:cubicBezTo>
                  <a:pt x="90" y="0"/>
                  <a:pt x="92" y="2"/>
                  <a:pt x="92" y="4"/>
                </a:cubicBezTo>
                <a:cubicBezTo>
                  <a:pt x="92" y="26"/>
                  <a:pt x="92" y="26"/>
                  <a:pt x="92" y="26"/>
                </a:cubicBezTo>
                <a:cubicBezTo>
                  <a:pt x="92" y="28"/>
                  <a:pt x="90" y="30"/>
                  <a:pt x="88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5" name="Google Shape;577;p21"/>
          <p:cNvSpPr txBox="1">
            <a:spLocks noChangeArrowheads="1"/>
          </p:cNvSpPr>
          <p:nvPr/>
        </p:nvSpPr>
        <p:spPr bwMode="auto">
          <a:xfrm>
            <a:off x="4576766" y="2693482"/>
            <a:ext cx="3278187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4100"/>
              <a:buFont typeface="Open Sans" panose="020B0606030504020204" pitchFamily="34" charset="0"/>
              <a:buNone/>
            </a:pPr>
            <a:r>
              <a:rPr lang="en-US" altLang="en-US" sz="3600" dirty="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PROJECT &amp; ENGAGEMENT</a:t>
            </a:r>
          </a:p>
          <a:p>
            <a:pPr algn="ctr" eaLnBrk="1" hangingPunct="1">
              <a:buSzPts val="4100"/>
              <a:buFont typeface="Open Sans" panose="020B0606030504020204" pitchFamily="34" charset="0"/>
              <a:buNone/>
            </a:pPr>
            <a:r>
              <a:rPr lang="en-US" altLang="en-US" sz="3600" dirty="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MODELS</a:t>
            </a:r>
            <a:endParaRPr lang="en-US" altLang="en-US" sz="1100" dirty="0"/>
          </a:p>
        </p:txBody>
      </p:sp>
      <p:sp>
        <p:nvSpPr>
          <p:cNvPr id="30736" name="Google Shape;578;p21"/>
          <p:cNvSpPr txBox="1">
            <a:spLocks noChangeArrowheads="1"/>
          </p:cNvSpPr>
          <p:nvPr/>
        </p:nvSpPr>
        <p:spPr bwMode="auto">
          <a:xfrm>
            <a:off x="576262" y="1090611"/>
            <a:ext cx="3514725" cy="450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Clr>
                <a:srgbClr val="23929E"/>
              </a:buClr>
              <a:buSzPts val="2700"/>
            </a:pPr>
            <a:r>
              <a:rPr lang="en-US" sz="2700" dirty="0">
                <a:solidFill>
                  <a:srgbClr val="23929E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Short-Term Projects</a:t>
            </a:r>
            <a:endParaRPr lang="en-US" altLang="en-US" sz="2700" dirty="0">
              <a:solidFill>
                <a:srgbClr val="23929E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737" name="Google Shape;579;p21"/>
          <p:cNvSpPr txBox="1">
            <a:spLocks noChangeArrowheads="1"/>
          </p:cNvSpPr>
          <p:nvPr/>
        </p:nvSpPr>
        <p:spPr bwMode="auto">
          <a:xfrm>
            <a:off x="590553" y="4044949"/>
            <a:ext cx="299720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61605E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Cluster Projects</a:t>
            </a:r>
            <a:endParaRPr lang="en-US" altLang="en-US" dirty="0"/>
          </a:p>
        </p:txBody>
      </p:sp>
      <p:sp>
        <p:nvSpPr>
          <p:cNvPr id="30739" name="Google Shape;581;p21"/>
          <p:cNvSpPr txBox="1">
            <a:spLocks noChangeArrowheads="1"/>
          </p:cNvSpPr>
          <p:nvPr/>
        </p:nvSpPr>
        <p:spPr bwMode="auto">
          <a:xfrm>
            <a:off x="8435180" y="4019549"/>
            <a:ext cx="2906711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2F526B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Training Program</a:t>
            </a:r>
            <a:endParaRPr lang="en-US" altLang="en-US" dirty="0"/>
          </a:p>
        </p:txBody>
      </p:sp>
      <p:sp>
        <p:nvSpPr>
          <p:cNvPr id="30740" name="Google Shape;582;p21"/>
          <p:cNvSpPr txBox="1">
            <a:spLocks noChangeArrowheads="1"/>
          </p:cNvSpPr>
          <p:nvPr/>
        </p:nvSpPr>
        <p:spPr bwMode="auto">
          <a:xfrm>
            <a:off x="8440734" y="4489447"/>
            <a:ext cx="306705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SzPts val="1700"/>
            </a:pPr>
            <a:r>
              <a:rPr lang="en-US" sz="1700" dirty="0">
                <a:latin typeface="Open Sans" panose="020B0606030504020204" pitchFamily="34" charset="0"/>
                <a:cs typeface="Open Sans" panose="020B0606030504020204" pitchFamily="34" charset="0"/>
              </a:rPr>
              <a:t>Institutional and Industry-readiness programs to build practical skills and future-ready capabilities</a:t>
            </a:r>
          </a:p>
        </p:txBody>
      </p:sp>
      <p:sp>
        <p:nvSpPr>
          <p:cNvPr id="30741" name="Google Shape;583;p21"/>
          <p:cNvSpPr txBox="1">
            <a:spLocks noChangeArrowheads="1"/>
          </p:cNvSpPr>
          <p:nvPr/>
        </p:nvSpPr>
        <p:spPr bwMode="auto">
          <a:xfrm>
            <a:off x="527050" y="1619250"/>
            <a:ext cx="338296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SzPts val="1700"/>
            </a:pPr>
            <a:r>
              <a:rPr lang="en-US" sz="1700" dirty="0">
                <a:latin typeface="Open Sans" panose="020B0606030504020204" pitchFamily="34" charset="0"/>
                <a:cs typeface="Open Sans" panose="020B0606030504020204" pitchFamily="34" charset="0"/>
              </a:rPr>
              <a:t>Result-oriented, time-bound interventions focused on quick wins and measurable impact</a:t>
            </a:r>
            <a:endParaRPr lang="en-US" altLang="en-US" sz="17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742" name="Google Shape;584;p21"/>
          <p:cNvSpPr txBox="1">
            <a:spLocks noChangeArrowheads="1"/>
          </p:cNvSpPr>
          <p:nvPr/>
        </p:nvSpPr>
        <p:spPr bwMode="auto">
          <a:xfrm>
            <a:off x="541342" y="4464046"/>
            <a:ext cx="33813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SzPts val="1700"/>
            </a:pPr>
            <a:r>
              <a:rPr lang="en-US" sz="1700" dirty="0">
                <a:latin typeface="Open Sans" panose="020B0606030504020204" pitchFamily="34" charset="0"/>
                <a:cs typeface="Open Sans" panose="020B0606030504020204" pitchFamily="34" charset="0"/>
              </a:rPr>
              <a:t>Government / OEM-driven cluster initiatives for MSMEs, focusing on collective improvement and benchmarking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BBA79-64A9-118E-65FB-E76087DC153E}"/>
              </a:ext>
            </a:extLst>
          </p:cNvPr>
          <p:cNvSpPr txBox="1"/>
          <p:nvPr/>
        </p:nvSpPr>
        <p:spPr>
          <a:xfrm>
            <a:off x="8375646" y="1039895"/>
            <a:ext cx="7579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ACADAD"/>
              </a:buClr>
              <a:buSzPts val="2700"/>
            </a:pPr>
            <a:r>
              <a:rPr lang="en-US" sz="2700" dirty="0">
                <a:solidFill>
                  <a:srgbClr val="ACADAD"/>
                </a:solidFill>
                <a:latin typeface="Open Sans" panose="020B0606030504020204" pitchFamily="34" charset="0"/>
                <a:cs typeface="Open Sans" panose="020B0606030504020204" pitchFamily="34" charset="0"/>
                <a:sym typeface="Arial" panose="020B0604020202020204" pitchFamily="34" charset="0"/>
              </a:rPr>
              <a:t>Long-Term Projects </a:t>
            </a:r>
          </a:p>
          <a:p>
            <a:pPr>
              <a:buClr>
                <a:srgbClr val="ACADAD"/>
              </a:buClr>
              <a:buSzPts val="2700"/>
            </a:pPr>
            <a:r>
              <a:rPr lang="en-US" sz="2700" dirty="0">
                <a:solidFill>
                  <a:srgbClr val="ACADAD"/>
                </a:solidFill>
                <a:latin typeface="Open Sans" panose="020B0606030504020204" pitchFamily="34" charset="0"/>
                <a:cs typeface="Open Sans" panose="020B0606030504020204" pitchFamily="34" charset="0"/>
                <a:sym typeface="Arial" panose="020B0604020202020204" pitchFamily="34" charset="0"/>
              </a:rPr>
              <a:t>(Retainer Model)</a:t>
            </a:r>
            <a:endParaRPr lang="en-IN" sz="2700" dirty="0">
              <a:solidFill>
                <a:srgbClr val="ACADAD"/>
              </a:solidFill>
              <a:latin typeface="Open Sans" panose="020B0606030504020204" pitchFamily="34" charset="0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57A89-CE1C-58BD-9D42-FDB78A81587B}"/>
              </a:ext>
            </a:extLst>
          </p:cNvPr>
          <p:cNvSpPr txBox="1"/>
          <p:nvPr/>
        </p:nvSpPr>
        <p:spPr>
          <a:xfrm>
            <a:off x="4003675" y="184165"/>
            <a:ext cx="944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(Home Page – After Process Section)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FE9F2-BF97-4BC0-F955-6F535DB82E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36CA2-5748-5E20-BE6C-6D0AD07A8E10}"/>
              </a:ext>
            </a:extLst>
          </p:cNvPr>
          <p:cNvSpPr txBox="1"/>
          <p:nvPr/>
        </p:nvSpPr>
        <p:spPr>
          <a:xfrm>
            <a:off x="394830" y="1365692"/>
            <a:ext cx="104539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Strategy</a:t>
            </a: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Plant Layout Design &amp; Optimization</a:t>
            </a: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Excellence &amp; Lean Transformation</a:t>
            </a: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Defect Culture Deployment</a:t>
            </a: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&amp; Smart Factory Transformation</a:t>
            </a:r>
          </a:p>
          <a:p>
            <a:pPr marL="514350" indent="-514350">
              <a:buFontTx/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Capability and Performance Enhancement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 development programs and certifications</a:t>
            </a:r>
          </a:p>
          <a:p>
            <a:pPr marL="514350" indent="-514350">
              <a:buFontTx/>
              <a:buAutoNum type="arabicPeriod"/>
            </a:pP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 Semibold" panose="020B0706030804020204" pitchFamily="34" charset="0"/>
              </a:rPr>
              <a:t>Talent Hiring &amp; Management Services</a:t>
            </a:r>
            <a:endParaRPr lang="en-US" alt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Tx/>
              <a:buAutoNum type="arabicPeriod"/>
            </a:pP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Tx/>
              <a:buAutoNum type="arabicPeriod"/>
            </a:pP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Tx/>
              <a:buAutoNum type="arabicPeriod"/>
            </a:pP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934AA1-BF6F-0AAE-2791-F8CEE7FC6C73}"/>
              </a:ext>
            </a:extLst>
          </p:cNvPr>
          <p:cNvCxnSpPr>
            <a:cxnSpLocks/>
          </p:cNvCxnSpPr>
          <p:nvPr/>
        </p:nvCxnSpPr>
        <p:spPr>
          <a:xfrm>
            <a:off x="394830" y="949468"/>
            <a:ext cx="11456768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503487-4549-281D-0CC6-2BD1AC89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50" y="176203"/>
            <a:ext cx="2729588" cy="77326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8AE13A-1B5B-3420-5853-905E2A4A1BDE}"/>
              </a:ext>
            </a:extLst>
          </p:cNvPr>
          <p:cNvSpPr txBox="1">
            <a:spLocks/>
          </p:cNvSpPr>
          <p:nvPr/>
        </p:nvSpPr>
        <p:spPr>
          <a:xfrm>
            <a:off x="-3048000" y="-156015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z="4400" dirty="0">
                <a:solidFill>
                  <a:schemeClr val="tx1"/>
                </a:solidFill>
                <a:latin typeface="Calibri "/>
                <a:cs typeface="Aldhabi" panose="020F0502020204030204" pitchFamily="2" charset="-78"/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249205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7A31-1632-560F-D7C9-B59FFB3D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F1F78-2642-E504-231E-2D6E0CC6C8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7CC0B0-D9BE-F4C3-E8A7-A17F6C806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656152"/>
              </p:ext>
            </p:extLst>
          </p:nvPr>
        </p:nvGraphicFramePr>
        <p:xfrm>
          <a:off x="331165" y="697652"/>
          <a:ext cx="11529669" cy="54626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9693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4493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Strategy </a:t>
                      </a:r>
                      <a:endParaRPr lang="en-US" altLang="en-US" sz="1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1.Strategic Business Planning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2.Performance-Driven Culture and KPI Deployment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3.Market Entry and Scalable Growth Strategy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 help organizations develop clear strategic business plans aligned with their vision, market dynamics, and long-term objectives. We deploy performance-driven KPIs and build execution-focused cultures to enable successful market entry and scalable, sustainable growth.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1.Build practical strategies that teams can execute with clarity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2.Align leadership and cross-functional teams around shared goals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Replace assumptions with data-driven, measurable direction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1.Faster, data-driven decision-making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2.Clear KPI visibility and performance transparency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3.Strong alignment across leadership and functions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4.Sustainable topline growth through structured growth strategies</a:t>
                      </a:r>
                    </a:p>
                    <a:p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5.Improved profitability, margins, and EBITDA performance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5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DC49-BF97-DD83-5A6B-5966A21A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7E4E6-631F-A8D0-1A55-3C195910CF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6CE5C1-C064-3832-542C-E02C3D561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248637"/>
              </p:ext>
            </p:extLst>
          </p:nvPr>
        </p:nvGraphicFramePr>
        <p:xfrm>
          <a:off x="331165" y="697652"/>
          <a:ext cx="11529669" cy="54626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9693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4493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Plant Layout Design &amp;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New plant layout planning - Greenfield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Expansion or Plant Re-Layout - Brownfield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Product or Process Layout design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New Plant Layout Planning – Greenfield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We design end-to-end plant layouts from concept to commissioning, optimizing material flow, space utilization, and future scalability.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1" dirty="0"/>
                        <a:t>Expansion or Plant Re-Layout – Brownfield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We re-engineer existing layouts to support capacity expansion, improve flow efficiency, and minimize disruption to ongoing operations.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1" dirty="0"/>
                        <a:t>Product or Process Layout Design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We develop optimized product- and process-based layouts to reduce lead time, handling cost, and operational bottlenecks.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Design efficient plant layouts for smooth operations.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Streamline material flow and optimize processes.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Maximize space utilization for current and future needs.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400" dirty="0"/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a clear roadmap for seamless implementation.</a:t>
                      </a:r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Deliver cost savings and improved operational performance.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67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C338-A06E-767B-7A51-5CF6F748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C9D7-2D1C-B84D-15FB-EA30D1702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18592D-5175-6ECC-AC5F-3EF2928B9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71445"/>
              </p:ext>
            </p:extLst>
          </p:nvPr>
        </p:nvGraphicFramePr>
        <p:xfrm>
          <a:off x="331165" y="697652"/>
          <a:ext cx="11529669" cy="54626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9693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4493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Operational Excellence &amp; Lean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Lean Manufacturing Implementation</a:t>
                      </a: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Process Optimization &amp; Line Efficiency Improvement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algn="l" defTabSz="914400" rtl="0" eaLnBrk="1" latinLnBrk="0" hangingPunct="1">
                        <a:buAutoNum type="arabicPeriod"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5S &amp; Workplace Organization with Change Management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Lean Manufacturing Implementation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Embed lean principles to eliminate waste and improve overall efficiency.</a:t>
                      </a:r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Process Optimization &amp; Line Efficiency Improvement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Streamline processes to boost productivity and reduce cycle time.</a:t>
                      </a:r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5S &amp; Workplace Organization with Change Management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Organize workplaces systematically and drive sustainable behavioral change.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Implement lean practices to eliminate waste and improve efficiency.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sz="1400" dirty="0"/>
                        <a:t>Optimize processes and enhance production line performance.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/>
                        <a:t>Organize workplaces using 5S for better safety and productivity.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/>
                        <a:t>Improve overall operational performance and reduce costs.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400" dirty="0"/>
                        <a:t>Drive sustainable change through structured change management.</a:t>
                      </a: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47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2141-071F-BD97-E4B9-C8995E7E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95BA-9F54-B5F9-A785-D2F6D6385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23EBE2-B817-3923-8935-2C573FB3A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474736"/>
              </p:ext>
            </p:extLst>
          </p:nvPr>
        </p:nvGraphicFramePr>
        <p:xfrm>
          <a:off x="331165" y="113335"/>
          <a:ext cx="11529669" cy="64649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82619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5087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Zero Defect Culture Deployment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Quality Management System Strengthening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Established Quality Systems and Practices through “3D Concept”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Continuous Improvement &amp; Problem-Solving Culture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Quality Management System Strengthening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Strengthen QMS to ensure consistent product quality and compliance.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Implement structured quality practices using the 3D Concept for defect prevention.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Open Sans SemiBold" pitchFamily="34" charset="0"/>
                        </a:rPr>
                        <a:t>DON’T PASS DEFECT - INSPECTION</a:t>
                      </a:r>
                      <a:endParaRPr lang="en-US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Open Sans SemiBold" pitchFamily="34" charset="0"/>
                        </a:rPr>
                        <a:t>DON’T MAKE DEFECT - ASSURANCE BY PROCESS CAPABILITY</a:t>
                      </a:r>
                      <a:endParaRPr lang="en-US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 pitchFamily="34" charset="0"/>
                        </a:rPr>
                        <a:t>DON’T ACCEPT DEFECT - TIER II CONTROL</a:t>
                      </a:r>
                    </a:p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 robust DWM systems and practices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strengthen daily monitoring and problem-solving capabilities.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dirty="0"/>
                    </a:p>
                    <a:p>
                      <a:r>
                        <a:rPr lang="en-US" sz="1400" b="1" dirty="0"/>
                        <a:t>Continuous Improvement &amp; Problem-Solving Culture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Foster a culture of ongoing improvement and proactive problem-solving.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  <a:p>
                      <a:endParaRPr lang="en-IN" sz="1400" dirty="0"/>
                    </a:p>
                    <a:p>
                      <a:endParaRPr lang="en-IN" sz="1400" dirty="0"/>
                    </a:p>
                    <a:p>
                      <a:endParaRPr lang="en-IN" sz="1400" dirty="0"/>
                    </a:p>
                    <a:p>
                      <a:r>
                        <a:rPr lang="en-IN" sz="1400" dirty="0"/>
                        <a:t>To achieve Zero </a:t>
                      </a:r>
                      <a:r>
                        <a:rPr lang="en-IN" sz="1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Customer PPM </a:t>
                      </a:r>
                    </a:p>
                    <a:p>
                      <a:endParaRPr lang="en-IN" sz="1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IN" sz="1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50% reduction in COPQ (FE &amp; FI) </a:t>
                      </a:r>
                      <a:r>
                        <a:rPr lang="en-IN" sz="1400" dirty="0"/>
                        <a:t>from the current level</a:t>
                      </a:r>
                    </a:p>
                    <a:p>
                      <a:endParaRPr lang="en-IN" sz="1400" dirty="0"/>
                    </a:p>
                    <a:p>
                      <a:endParaRPr lang="en-IN" sz="1400" dirty="0"/>
                    </a:p>
                    <a:p>
                      <a:pPr lvl="0"/>
                      <a:r>
                        <a:rPr lang="en-IN" sz="1400" dirty="0"/>
                        <a:t>To improve </a:t>
                      </a:r>
                      <a:r>
                        <a:rPr lang="en-IN" sz="1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Customer audit score &gt;85% 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45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B6E-CB05-15F3-3CB0-FF9BF55C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BF4D-0CF4-A871-D2D0-B2C17C01C6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BFF2D6-0FD4-5A3D-1D17-CF0DB0E27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33544"/>
              </p:ext>
            </p:extLst>
          </p:nvPr>
        </p:nvGraphicFramePr>
        <p:xfrm>
          <a:off x="331165" y="113335"/>
          <a:ext cx="11529669" cy="591339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82619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5087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&amp; Smart Factory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Integrated Digitalization and Visual Control Systems (VCS).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Quality Management System (DQMS)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Advanced Analytics &amp; Predictive Maintenance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Integrated Digitalization and Visual Control Systems (VCS)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Implement smart digital systems for real-time monitoring and control.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1" dirty="0"/>
                        <a:t>Digital Quality Management System (DQMS)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Digitize quality processes to ensure compliance and traceability.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Advanced Analytics &amp; Predictive Maintenance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Use data analytics to predict failures and optimize maintenance.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Digitize quality management for compliance.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Enable predictive maintenance with analytics.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Deliver insights to boost efficiency.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Drive smart factory transformation.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46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012A-68F2-4BE5-78D5-0565274E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F0BC0-0885-BC40-0DAC-1D65A4B7F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5F609D-07C6-E20E-E16E-6E3860503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50211"/>
              </p:ext>
            </p:extLst>
          </p:nvPr>
        </p:nvGraphicFramePr>
        <p:xfrm>
          <a:off x="331165" y="113335"/>
          <a:ext cx="11529669" cy="591339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82619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5087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Supplier Capability and Performance Enhancement 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Enhance Supplier Capability &amp; Performance 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Improving OEM Performance Ranking for Tier I Suppliers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Supplier Capability Enhancement Cluster Program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Enhance Supplier Capability &amp; Performance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Improve supplier processes, skills, and delivery performance.</a:t>
                      </a:r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Improving OEM Performance Ranking for Tier I Suppliers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Help suppliers meet OEM standards and boost their performance ranking.</a:t>
                      </a:r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Supplier Capability Enhancement Cluster Program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Develop supplier clusters for shared learning, best practices, and performance improvement.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Improve supplier processes and quality.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Enhance skills and operational capabilities.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Boost OEM performance rankings.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Enable cluster-based learning and </a:t>
                      </a:r>
                    </a:p>
                    <a:p>
                      <a:r>
                        <a:rPr lang="en-US" sz="1400" dirty="0"/>
                        <a:t>best practices.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Drive sustained supplier performance.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39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85AD-DD91-1CDC-780A-52B42B7B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05AF4-C99C-B14F-FDC3-6518DD295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59DDB0-C638-42F1-3AFF-D503CFB03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683159"/>
              </p:ext>
            </p:extLst>
          </p:nvPr>
        </p:nvGraphicFramePr>
        <p:xfrm>
          <a:off x="331165" y="113335"/>
          <a:ext cx="11529669" cy="591339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82619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5087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Skill development programs and certifications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AIAG - Core Tools, </a:t>
                      </a:r>
                      <a:r>
                        <a:rPr lang="en-US" sz="1400" dirty="0">
                          <a:latin typeface="+mn-lt"/>
                        </a:rPr>
                        <a:t>Lean Tools, 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 solving through disciplinary approach</a:t>
                      </a:r>
                      <a:endParaRPr lang="en-US" sz="1400" dirty="0">
                        <a:latin typeface="+mn-lt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ESG Implementation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ISO, IATF and Integrated certification for manufacturing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AIAG – Core Tools, Lean Tools, Problem Solving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Train teams in core manufacturing and problem-solving skills.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ESG Implementation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Guide organizations to implement sustainable and responsible practices.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ISO, IATF, and Integrated Certification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Support certification readiness and compliance for manufacturing standards.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Build structured problem-solving skills.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Implement ESG and sustainability practices.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Support ISO, IATF, and integrated certifications.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Enhance skills and operational excellence.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28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5545-263F-DE1C-5CAC-00F47061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2D257-41FE-F22C-A683-590137686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540528-9EB0-90B6-5CB2-84C722627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486338"/>
              </p:ext>
            </p:extLst>
          </p:nvPr>
        </p:nvGraphicFramePr>
        <p:xfrm>
          <a:off x="331165" y="113335"/>
          <a:ext cx="11529669" cy="591339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55956">
                  <a:extLst>
                    <a:ext uri="{9D8B030D-6E8A-4147-A177-3AD203B41FA5}">
                      <a16:colId xmlns:a16="http://schemas.microsoft.com/office/drawing/2014/main" val="4116947902"/>
                    </a:ext>
                  </a:extLst>
                </a:gridCol>
                <a:gridCol w="2053447">
                  <a:extLst>
                    <a:ext uri="{9D8B030D-6E8A-4147-A177-3AD203B41FA5}">
                      <a16:colId xmlns:a16="http://schemas.microsoft.com/office/drawing/2014/main" val="1155243422"/>
                    </a:ext>
                  </a:extLst>
                </a:gridCol>
                <a:gridCol w="3272962">
                  <a:extLst>
                    <a:ext uri="{9D8B030D-6E8A-4147-A177-3AD203B41FA5}">
                      <a16:colId xmlns:a16="http://schemas.microsoft.com/office/drawing/2014/main" val="3249563146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2917261495"/>
                    </a:ext>
                  </a:extLst>
                </a:gridCol>
                <a:gridCol w="2823652">
                  <a:extLst>
                    <a:ext uri="{9D8B030D-6E8A-4147-A177-3AD203B41FA5}">
                      <a16:colId xmlns:a16="http://schemas.microsoft.com/office/drawing/2014/main" val="1631869985"/>
                    </a:ext>
                  </a:extLst>
                </a:gridCol>
              </a:tblGrid>
              <a:tr h="82619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No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Deliver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We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35120"/>
                  </a:ext>
                </a:extLst>
              </a:tr>
              <a:tr h="5087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Open Sans Semibold" panose="020B0706030804020204" pitchFamily="34" charset="0"/>
                        </a:rPr>
                        <a:t>Talent Hiring &amp; Management Services</a:t>
                      </a:r>
                      <a:endParaRPr lang="en-US" altLang="en-US" sz="1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Strategic Talent Acquisition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Leadership &amp; High-Potential Talent 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Employee Engagement &amp; Retention Programs</a:t>
                      </a: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Talent Acquisition Strategy &amp; Planning</a:t>
                      </a:r>
                      <a:r>
                        <a:rPr lang="en-US" sz="1400" dirty="0"/>
                        <a:t> – Define hiring strategies aligned with business goals.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Competency Mapping &amp; Role Profiling</a:t>
                      </a:r>
                      <a:r>
                        <a:rPr lang="en-US" sz="1400" dirty="0"/>
                        <a:t> – Identify skills and competencies required for roles.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Leadership &amp; High-Potential Talent Development</a:t>
                      </a:r>
                      <a:r>
                        <a:rPr lang="en-US" sz="1400" dirty="0"/>
                        <a:t> – Develop programs for future leaders.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Performance Management System Design</a:t>
                      </a:r>
                      <a:r>
                        <a:rPr lang="en-US" sz="1400" dirty="0"/>
                        <a:t> – Implement frameworks to measure and improve performance.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400" b="1" dirty="0"/>
                        <a:t>Employee Engagement &amp; Retention Programs</a:t>
                      </a:r>
                      <a:r>
                        <a:rPr lang="en-US" sz="1400" dirty="0"/>
                        <a:t> – Boost workforce motivation and reduce attrition.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attrition rate</a:t>
                      </a: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 scalable HR performance management systems</a:t>
                      </a:r>
                      <a:endParaRPr lang="en-IN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3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49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4_SQ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Q Theme" id="{AB2CBA8D-BDB5-48FB-B4A4-F0798826A9FB}" vid="{AD44D86A-3D7E-4BEA-AEC0-40BCD81DBF7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purl.org/dc/terms/"/>
    <ds:schemaRef ds:uri="http://purl.org/dc/dcmitype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13754</TotalTime>
  <Words>1485</Words>
  <Application>Microsoft Office PowerPoint</Application>
  <PresentationFormat>Widescreen</PresentationFormat>
  <Paragraphs>346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</vt:lpstr>
      <vt:lpstr>Calibri Light</vt:lpstr>
      <vt:lpstr>Calibri Light body</vt:lpstr>
      <vt:lpstr>Open Sans</vt:lpstr>
      <vt:lpstr>Verdana</vt:lpstr>
      <vt:lpstr>Wingdings</vt:lpstr>
      <vt:lpstr>Office Theme</vt:lpstr>
      <vt:lpstr>4_SQ Theme</vt:lpstr>
      <vt:lpstr>Website Content</vt:lpstr>
      <vt:lpstr>PowerPoint Presentation</vt:lpstr>
      <vt:lpstr>About Us</vt:lpstr>
      <vt:lpstr>Vision &amp; Mission</vt:lpstr>
      <vt:lpstr>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</dc:title>
  <dc:creator>BTO</dc:creator>
  <cp:lastModifiedBy>Ashok Soundararajan</cp:lastModifiedBy>
  <cp:revision>974</cp:revision>
  <cp:lastPrinted>2024-07-24T05:07:08Z</cp:lastPrinted>
  <dcterms:created xsi:type="dcterms:W3CDTF">2024-03-24T05:20:25Z</dcterms:created>
  <dcterms:modified xsi:type="dcterms:W3CDTF">2026-01-26T07:38:50Z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