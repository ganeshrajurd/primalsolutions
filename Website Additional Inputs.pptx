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21" r:id="rId5"/>
  </p:sldMasterIdLst>
  <p:notesMasterIdLst>
    <p:notesMasterId r:id="rId15"/>
  </p:notesMasterIdLst>
  <p:handoutMasterIdLst>
    <p:handoutMasterId r:id="rId16"/>
  </p:handoutMasterIdLst>
  <p:sldIdLst>
    <p:sldId id="790" r:id="rId6"/>
    <p:sldId id="256" r:id="rId7"/>
    <p:sldId id="827" r:id="rId8"/>
    <p:sldId id="828" r:id="rId9"/>
    <p:sldId id="829" r:id="rId10"/>
    <p:sldId id="810" r:id="rId11"/>
    <p:sldId id="350" r:id="rId12"/>
    <p:sldId id="346" r:id="rId13"/>
    <p:sldId id="706" r:id="rId1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6" userDrawn="1">
          <p15:clr>
            <a:srgbClr val="A4A3A4"/>
          </p15:clr>
        </p15:guide>
        <p15:guide id="2" pos="408" userDrawn="1">
          <p15:clr>
            <a:srgbClr val="A4A3A4"/>
          </p15:clr>
        </p15:guide>
        <p15:guide id="3" orient="horz" pos="3912" userDrawn="1">
          <p15:clr>
            <a:srgbClr val="A4A3A4"/>
          </p15:clr>
        </p15:guide>
        <p15:guide id="4" pos="7287" userDrawn="1">
          <p15:clr>
            <a:srgbClr val="A4A3A4"/>
          </p15:clr>
        </p15:guide>
        <p15:guide id="5" orient="horz" pos="163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EA1A1F-5615-81E2-8619-34BC6951410C}" name="Ashok S" initials="AS" userId="fb077d6fe16dde3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A77"/>
    <a:srgbClr val="FFFBEF"/>
    <a:srgbClr val="FF4B21"/>
    <a:srgbClr val="FFE79B"/>
    <a:srgbClr val="000273"/>
    <a:srgbClr val="FFFFFF"/>
    <a:srgbClr val="FFCE33"/>
    <a:srgbClr val="FFF5D5"/>
    <a:srgbClr val="ACDCF2"/>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47" autoAdjust="0"/>
  </p:normalViewPr>
  <p:slideViewPr>
    <p:cSldViewPr snapToGrid="0">
      <p:cViewPr varScale="1">
        <p:scale>
          <a:sx n="56" d="100"/>
          <a:sy n="56" d="100"/>
        </p:scale>
        <p:origin x="1052" y="44"/>
      </p:cViewPr>
      <p:guideLst>
        <p:guide orient="horz" pos="1956"/>
        <p:guide pos="408"/>
        <p:guide orient="horz" pos="3912"/>
        <p:guide pos="7287"/>
        <p:guide orient="horz" pos="1638"/>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42" d="100"/>
          <a:sy n="42" d="100"/>
        </p:scale>
        <p:origin x="2800"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EF1077DB-935E-4A0A-947A-D283B9F9F452}" type="datetimeFigureOut">
              <a:rPr lang="en-US" smtClean="0"/>
              <a:t>1/26/2026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noProof="0"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2D9EC30E-1A71-4188-9BE7-E2A64929A436}" type="datetimeFigureOut">
              <a:rPr lang="en-US" noProof="0" smtClean="0"/>
              <a:t>1/26/2026</a:t>
            </a:fld>
            <a:endParaRPr lang="en-US" noProof="0"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noProof="0"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4293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4414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a:extLst>
            <a:ext uri="{FF2B5EF4-FFF2-40B4-BE49-F238E27FC236}">
              <a16:creationId xmlns:a16="http://schemas.microsoft.com/office/drawing/2014/main" id="{103F5879-5FCE-D5D2-96F8-35E5109052B2}"/>
            </a:ext>
          </a:extLst>
        </p:cNvPr>
        <p:cNvGrpSpPr/>
        <p:nvPr/>
      </p:nvGrpSpPr>
      <p:grpSpPr>
        <a:xfrm>
          <a:off x="0" y="0"/>
          <a:ext cx="0" cy="0"/>
          <a:chOff x="0" y="0"/>
          <a:chExt cx="0" cy="0"/>
        </a:xfrm>
      </p:grpSpPr>
      <p:sp>
        <p:nvSpPr>
          <p:cNvPr id="35" name="Google Shape;35;p1:notes">
            <a:extLst>
              <a:ext uri="{FF2B5EF4-FFF2-40B4-BE49-F238E27FC236}">
                <a16:creationId xmlns:a16="http://schemas.microsoft.com/office/drawing/2014/main" id="{DE468F03-CF0D-851F-5F66-55D1402F42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 name="Google Shape;36;p1:notes">
            <a:extLst>
              <a:ext uri="{FF2B5EF4-FFF2-40B4-BE49-F238E27FC236}">
                <a16:creationId xmlns:a16="http://schemas.microsoft.com/office/drawing/2014/main" id="{50A63ADB-BB7C-8390-BECF-57B14338B4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1585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a:lstStyle>
            <a:lvl1pP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anchor="b"/>
          <a:lstStyle>
            <a:lvl1pPr algn="r">
              <a:buNone/>
              <a:defRPr lang="en-US" sz="1600" kern="1200" dirty="0" smtClean="0">
                <a:solidFill>
                  <a:schemeClr val="bg1"/>
                </a:solidFill>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anchor="b"/>
          <a:lstStyle>
            <a:lvl1pPr algn="ctr">
              <a:buNone/>
              <a:defRPr lang="en-US" sz="20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a:lstStyle>
            <a:lvl1pPr algn="ctr">
              <a:spcBef>
                <a:spcPts val="1000"/>
              </a:spcBef>
              <a:defRPr sz="2800">
                <a:solidFill>
                  <a:schemeClr val="bg1"/>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anchor="ctr"/>
          <a:lstStyle>
            <a:lvl1pPr algn="ct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a:lstStyle>
            <a:lvl1pPr>
              <a:buNone/>
              <a:defRPr kumimoji="0" lang="en-US" sz="1800" b="1" i="0" u="none" strike="noStrike" kern="1200" cap="none" spc="0" normalizeH="0" baseline="0" dirty="0" smtClean="0">
                <a:ln>
                  <a:noFill/>
                </a:ln>
                <a:solidFill>
                  <a:schemeClr val="accent4"/>
                </a:solidFill>
                <a:effectLst/>
                <a:uLnTx/>
                <a:uFillTx/>
                <a:latin typeface="+mj-lt"/>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mn-lt"/>
                <a:ea typeface="+mn-ea"/>
                <a:cs typeface="Biome Light" panose="020B0303030204020804" pitchFamily="34" charset="0"/>
              </a:defRPr>
            </a:lvl2pPr>
          </a:lstStyle>
          <a:p>
            <a:pPr lvl="0"/>
            <a:r>
              <a:rPr lang="en-US"/>
              <a:t>Click to edit Master text styles</a:t>
            </a:r>
          </a:p>
          <a:p>
            <a:pPr lvl="1"/>
            <a:r>
              <a:rPr lang="en-US"/>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a:lstStyle>
            <a:lvl1pPr>
              <a:buNone/>
              <a:defRPr lang="en-US" sz="2400" b="1" kern="1200" dirty="0" smtClean="0">
                <a:solidFill>
                  <a:schemeClr val="tx1"/>
                </a:solidFill>
                <a:latin typeface="+mj-lt"/>
                <a:ea typeface="+mn-ea"/>
                <a:cs typeface="Biome Light" panose="020B0303030204020804" pitchFamily="34" charset="0"/>
              </a:defRPr>
            </a:lvl1pPr>
            <a:lvl2pPr>
              <a:buNone/>
              <a:defRPr/>
            </a:lvl2pPr>
          </a:lstStyle>
          <a:p>
            <a:pPr lvl="0"/>
            <a:r>
              <a:rPr lang="en-US"/>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a:lstStyle>
            <a:lvl1pPr>
              <a:buClr>
                <a:schemeClr val="accent4"/>
              </a:buClr>
              <a:buFont typeface="Wingdings" panose="05000000000000000000" pitchFamily="2" charset="2"/>
              <a:buChar char="§"/>
              <a:defRPr lang="en-US" sz="2000" kern="1200" dirty="0" smtClean="0">
                <a:solidFill>
                  <a:schemeClr val="tx1"/>
                </a:solidFill>
                <a:latin typeface="+mn-lt"/>
                <a:ea typeface="+mn-ea"/>
                <a:cs typeface="Biome Light" panose="020B0303030204020804" pitchFamily="34" charset="0"/>
              </a:defRPr>
            </a:lvl1pPr>
          </a:lstStyle>
          <a:p>
            <a:pPr lvl="0"/>
            <a:r>
              <a:rPr lang="en-US"/>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a:lstStyle>
            <a:lvl1pPr marL="0" indent="0">
              <a:buNone/>
              <a:defRPr sz="2000"/>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a:lstStyle>
            <a:lvl1pPr marL="0" indent="0">
              <a:buNone/>
              <a:defRPr sz="2000" b="1">
                <a:solidFill>
                  <a:schemeClr val="accent4"/>
                </a:solidFill>
              </a:defRPr>
            </a:lvl1pPr>
            <a:lvl2pPr>
              <a:buNone/>
              <a:defRPr sz="2000"/>
            </a:lvl2pPr>
            <a:lvl3pPr>
              <a:buNone/>
              <a:defRPr/>
            </a:lvl3pPr>
            <a:lvl4pPr>
              <a:buNone/>
              <a:defRPr/>
            </a:lvl4pPr>
            <a:lvl5pPr>
              <a:buNone/>
              <a:defRPr/>
            </a:lvl5pPr>
          </a:lstStyle>
          <a:p>
            <a:pPr lvl="0"/>
            <a:r>
              <a:rPr lang="en-US"/>
              <a:t>Click to edit Master text styles</a:t>
            </a:r>
          </a:p>
          <a:p>
            <a:pPr lvl="1"/>
            <a:r>
              <a:rPr lang="en-US"/>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349564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ChangeArrowheads="1"/>
          </p:cNvSpPr>
          <p:nvPr>
            <p:ph type="dt" sz="half" idx="10"/>
          </p:nvPr>
        </p:nvSpPr>
        <p:spPr>
          <a:ln/>
        </p:spPr>
        <p:txBody>
          <a:bodyPr/>
          <a:lstStyle>
            <a:lvl1pPr>
              <a:defRPr/>
            </a:lvl1pPr>
          </a:lstStyle>
          <a:p>
            <a:pPr>
              <a:defRPr/>
            </a:pPr>
            <a:fld id="{E196355A-163F-4FE7-8DBF-DB2B819737F6}" type="datetime1">
              <a:rPr lang="zh-CN" altLang="en-US"/>
              <a:pPr>
                <a:defRPr/>
              </a:pPr>
              <a:t>2026/1/26</a:t>
            </a:fld>
            <a:endParaRPr lang="en-US" altLang="zh-CN" sz="1800">
              <a:solidFill>
                <a:schemeClr val="tx1"/>
              </a:solidFill>
            </a:endParaRPr>
          </a:p>
        </p:txBody>
      </p:sp>
      <p:sp>
        <p:nvSpPr>
          <p:cNvPr id="5" name="Footer Placeholder 4"/>
          <p:cNvSpPr>
            <a:spLocks noGrp="1" noChangeArrowheads="1"/>
          </p:cNvSpPr>
          <p:nvPr>
            <p:ph type="ftr" sz="quarter" idx="11"/>
          </p:nvPr>
        </p:nvSpPr>
        <p:spPr>
          <a:ln/>
        </p:spPr>
        <p:txBody>
          <a:bodyPr/>
          <a:lstStyle>
            <a:lvl1pPr>
              <a:defRPr/>
            </a:lvl1pPr>
          </a:lstStyle>
          <a:p>
            <a:pPr>
              <a:defRPr/>
            </a:pPr>
            <a:endParaRPr lang="en-US" altLang="en-US"/>
          </a:p>
        </p:txBody>
      </p:sp>
      <p:sp>
        <p:nvSpPr>
          <p:cNvPr id="6" name="Slide Number Placeholder 5"/>
          <p:cNvSpPr>
            <a:spLocks noGrp="1" noChangeArrowheads="1"/>
          </p:cNvSpPr>
          <p:nvPr>
            <p:ph type="sldNum" sz="quarter" idx="12"/>
          </p:nvPr>
        </p:nvSpPr>
        <p:spPr>
          <a:ln/>
        </p:spPr>
        <p:txBody>
          <a:bodyPr/>
          <a:lstStyle>
            <a:lvl1pPr>
              <a:defRPr/>
            </a:lvl1pPr>
          </a:lstStyle>
          <a:p>
            <a:fld id="{A967BAE1-13A9-4060-8B64-70553E2C5F59}" type="slidenum">
              <a:rPr lang="en-US" altLang="zh-CN"/>
              <a:pPr/>
              <a:t>‹#›</a:t>
            </a:fld>
            <a:endParaRPr lang="en-US" altLang="zh-CN" sz="1800">
              <a:solidFill>
                <a:schemeClr val="tx1"/>
              </a:solidFill>
            </a:endParaRPr>
          </a:p>
        </p:txBody>
      </p:sp>
    </p:spTree>
    <p:extLst>
      <p:ext uri="{BB962C8B-B14F-4D97-AF65-F5344CB8AC3E}">
        <p14:creationId xmlns:p14="http://schemas.microsoft.com/office/powerpoint/2010/main" val="451214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re et contenu">
  <p:cSld name="1_Titre et contenu">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407988" y="404813"/>
            <a:ext cx="11016604" cy="863601"/>
          </a:xfrm>
          <a:prstGeom prst="rect">
            <a:avLst/>
          </a:prstGeom>
          <a:noFill/>
          <a:ln>
            <a:noFill/>
          </a:ln>
        </p:spPr>
        <p:txBody>
          <a:bodyPr spcFirstLastPara="1" wrap="square" lIns="0" tIns="0" rIns="0" bIns="0" anchor="t" anchorCtr="0">
            <a:normAutofit/>
          </a:bodyPr>
          <a:lstStyle>
            <a:lvl1pPr lvl="0" algn="l">
              <a:lnSpc>
                <a:spcPct val="90000"/>
              </a:lnSpc>
              <a:spcBef>
                <a:spcPts val="0"/>
              </a:spcBef>
              <a:spcAft>
                <a:spcPts val="0"/>
              </a:spcAft>
              <a:buClr>
                <a:schemeClr val="dk2"/>
              </a:buClr>
              <a:buSzPts val="2200"/>
              <a:buFont typeface="Arial"/>
              <a:buNone/>
              <a:defRPr sz="2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9413876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a:xfrm>
            <a:off x="9347200" y="6479020"/>
            <a:ext cx="2844800" cy="365125"/>
          </a:xfrm>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9306799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2329" y="55572"/>
            <a:ext cx="9975273" cy="77114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302327" y="1122364"/>
            <a:ext cx="10280073" cy="50038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sz="1800" b="1"/>
            </a:lvl1pPr>
          </a:lstStyle>
          <a:p>
            <a:fld id="{BBEC76BD-CAF9-4B88-9E81-7908AB624139}" type="slidenum">
              <a:rPr lang="en-IN" smtClean="0"/>
              <a:t>‹#›</a:t>
            </a:fld>
            <a:endParaRPr lang="en-IN"/>
          </a:p>
        </p:txBody>
      </p:sp>
    </p:spTree>
    <p:extLst>
      <p:ext uri="{BB962C8B-B14F-4D97-AF65-F5344CB8AC3E}">
        <p14:creationId xmlns:p14="http://schemas.microsoft.com/office/powerpoint/2010/main" val="9010596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32335247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02329" y="55572"/>
            <a:ext cx="9975273" cy="771145"/>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7976043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2329" y="55572"/>
            <a:ext cx="9975273" cy="771145"/>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69" y="2174875"/>
            <a:ext cx="5389033"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150784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2329" y="55572"/>
            <a:ext cx="9975273" cy="771145"/>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932507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BEC76BD-CAF9-4B88-9E81-7908AB624139}" type="slidenum">
              <a:rPr lang="en-IN" smtClean="0"/>
              <a:t>‹#›</a:t>
            </a:fld>
            <a:endParaRPr lang="en-IN"/>
          </a:p>
        </p:txBody>
      </p:sp>
      <p:cxnSp>
        <p:nvCxnSpPr>
          <p:cNvPr id="5" name="Straight Connector 4"/>
          <p:cNvCxnSpPr/>
          <p:nvPr/>
        </p:nvCxnSpPr>
        <p:spPr>
          <a:xfrm>
            <a:off x="-9522" y="892175"/>
            <a:ext cx="12204700" cy="0"/>
          </a:xfrm>
          <a:prstGeom prst="line">
            <a:avLst/>
          </a:prstGeom>
          <a:ln w="635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60086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1331185"/>
            <a:ext cx="4011084" cy="873065"/>
          </a:xfrm>
          <a:prstGeom prst="rect">
            <a:avLst/>
          </a:prstGeo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1331393"/>
            <a:ext cx="6815667" cy="483728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2278304"/>
            <a:ext cx="4011084" cy="387691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Slide Number Placeholder 6"/>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23808089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1066802"/>
            <a:ext cx="7315200" cy="366077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7" name="Slide Number Placeholder 6"/>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34523949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302329" y="55572"/>
            <a:ext cx="9975273" cy="771145"/>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302327" y="1122364"/>
            <a:ext cx="10280073" cy="5003800"/>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14381583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90600"/>
            <a:ext cx="2743200" cy="5135563"/>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90600"/>
            <a:ext cx="8026400" cy="5135563"/>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BBEC76BD-CAF9-4B88-9E81-7908AB624139}" type="slidenum">
              <a:rPr lang="en-IN" smtClean="0"/>
              <a:t>‹#›</a:t>
            </a:fld>
            <a:endParaRPr lang="en-IN"/>
          </a:p>
        </p:txBody>
      </p:sp>
    </p:spTree>
    <p:extLst>
      <p:ext uri="{BB962C8B-B14F-4D97-AF65-F5344CB8AC3E}">
        <p14:creationId xmlns:p14="http://schemas.microsoft.com/office/powerpoint/2010/main" val="4158452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emf"/><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0"/>
                <a:lumOff val="100000"/>
              </a:schemeClr>
            </a:gs>
            <a:gs pos="100000">
              <a:schemeClr val="accent1">
                <a:lumMod val="10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13A05B6A-9124-4DBB-843A-84818A8F79FC}"/>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
        <p:nvSpPr>
          <p:cNvPr id="2" name="Rectangle 1">
            <a:extLst>
              <a:ext uri="{FF2B5EF4-FFF2-40B4-BE49-F238E27FC236}">
                <a16:creationId xmlns:a16="http://schemas.microsoft.com/office/drawing/2014/main" id="{A0EFD3FD-DC93-6E83-F611-366EEFC3EAFA}"/>
              </a:ext>
            </a:extLst>
          </p:cNvPr>
          <p:cNvSpPr/>
          <p:nvPr userDrawn="1"/>
        </p:nvSpPr>
        <p:spPr>
          <a:xfrm>
            <a:off x="0" y="6492875"/>
            <a:ext cx="10696353" cy="365125"/>
          </a:xfrm>
          <a:prstGeom prst="rect">
            <a:avLst/>
          </a:prstGeom>
          <a:solidFill>
            <a:srgbClr val="ACDCF2">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71BB6182-B729-9311-9273-0A4FD838AAD5}"/>
              </a:ext>
            </a:extLst>
          </p:cNvPr>
          <p:cNvSpPr/>
          <p:nvPr userDrawn="1"/>
        </p:nvSpPr>
        <p:spPr>
          <a:xfrm>
            <a:off x="9069573" y="6655981"/>
            <a:ext cx="3122428" cy="235097"/>
          </a:xfrm>
          <a:prstGeom prst="rect">
            <a:avLst/>
          </a:prstGeom>
          <a:solidFill>
            <a:srgbClr val="ACDCF2">
              <a:alpha val="6902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2931086" y="6478245"/>
            <a:ext cx="9805947" cy="415650"/>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spc="300" dirty="0">
                <a:solidFill>
                  <a:srgbClr val="002060"/>
                </a:solidFill>
              </a:rPr>
              <a:t>BUSINESS STRATEGIC PLAN – Q4FY26</a:t>
            </a:r>
          </a:p>
        </p:txBody>
      </p: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691" r:id="rId14"/>
    <p:sldLayoutId id="2147483733" r:id="rId15"/>
    <p:sldLayoutId id="2147483734" r:id="rId16"/>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00000">
              <a:schemeClr val="accent1">
                <a:lumMod val="0"/>
                <a:lumOff val="100000"/>
              </a:schemeClr>
            </a:gs>
            <a:gs pos="100000">
              <a:schemeClr val="accent1">
                <a:lumMod val="10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9347200" y="6492875"/>
            <a:ext cx="2844800" cy="365125"/>
          </a:xfrm>
          <a:prstGeom prst="rect">
            <a:avLst/>
          </a:prstGeom>
        </p:spPr>
        <p:txBody>
          <a:bodyPr vert="horz" lIns="91440" tIns="45720" rIns="91440" bIns="45720" rtlCol="0" anchor="ctr"/>
          <a:lstStyle>
            <a:lvl1pPr algn="r">
              <a:defRPr sz="2000" b="1">
                <a:solidFill>
                  <a:schemeClr val="tx1">
                    <a:tint val="75000"/>
                  </a:schemeClr>
                </a:solidFill>
              </a:defRPr>
            </a:lvl1pPr>
          </a:lstStyle>
          <a:p>
            <a:fld id="{BBEC76BD-CAF9-4B88-9E81-7908AB624139}" type="slidenum">
              <a:rPr lang="en-IN" smtClean="0"/>
              <a:t>‹#›</a:t>
            </a:fld>
            <a:endParaRPr lang="en-IN"/>
          </a:p>
        </p:txBody>
      </p:sp>
      <p:pic>
        <p:nvPicPr>
          <p:cNvPr id="7" name="Picture 6"/>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1329558" y="121661"/>
            <a:ext cx="696188" cy="626485"/>
          </a:xfrm>
          <a:prstGeom prst="rect">
            <a:avLst/>
          </a:prstGeom>
        </p:spPr>
      </p:pic>
      <p:cxnSp>
        <p:nvCxnSpPr>
          <p:cNvPr id="8" name="Straight Connector 7"/>
          <p:cNvCxnSpPr/>
          <p:nvPr/>
        </p:nvCxnSpPr>
        <p:spPr>
          <a:xfrm>
            <a:off x="-9522" y="892175"/>
            <a:ext cx="12204700" cy="0"/>
          </a:xfrm>
          <a:prstGeom prst="line">
            <a:avLst/>
          </a:prstGeom>
          <a:ln w="635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Description: Description: Description: Description: Description: Description: Description: Description: Description: cid:image001.png@01D0ADD0.B7125860">
            <a:extLst>
              <a:ext uri="{FF2B5EF4-FFF2-40B4-BE49-F238E27FC236}">
                <a16:creationId xmlns:a16="http://schemas.microsoft.com/office/drawing/2014/main" id="{EA7B303F-00B3-4064-80AF-A8D0BF49CD5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8549" y="27710"/>
            <a:ext cx="1011382" cy="79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3219865"/>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l" defTabSz="685800" rtl="0" eaLnBrk="1" latinLnBrk="0" hangingPunct="1">
        <a:spcBef>
          <a:spcPct val="0"/>
        </a:spcBef>
        <a:buNone/>
        <a:defRPr sz="2400" u="none"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195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35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3.png"/><Relationship Id="rId3" Type="http://schemas.openxmlformats.org/officeDocument/2006/relationships/image" Target="../media/image5.jpeg"/><Relationship Id="rId7" Type="http://schemas.openxmlformats.org/officeDocument/2006/relationships/image" Target="../media/image9.png"/><Relationship Id="rId12" Type="http://schemas.openxmlformats.org/officeDocument/2006/relationships/image" Target="../media/image13.jpeg"/><Relationship Id="rId2" Type="http://schemas.openxmlformats.org/officeDocument/2006/relationships/image" Target="../media/image4.jpeg"/><Relationship Id="rId1" Type="http://schemas.openxmlformats.org/officeDocument/2006/relationships/slideLayout" Target="../slideLayouts/slideLayout14.xml"/><Relationship Id="rId6" Type="http://schemas.openxmlformats.org/officeDocument/2006/relationships/image" Target="../media/image8.jpe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file:///C:\Program%20Files%20(x86)\Dewinter%20Material%20Plus%206.4\Logo\Header.jpg" TargetMode="External"/><Relationship Id="rId4" Type="http://schemas.openxmlformats.org/officeDocument/2006/relationships/image" Target="../media/image6.png"/><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16.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647E-D6CE-C7F8-800A-36EC0823F8EC}"/>
              </a:ext>
            </a:extLst>
          </p:cNvPr>
          <p:cNvSpPr>
            <a:spLocks noGrp="1"/>
          </p:cNvSpPr>
          <p:nvPr>
            <p:ph type="ctrTitle"/>
          </p:nvPr>
        </p:nvSpPr>
        <p:spPr>
          <a:xfrm>
            <a:off x="701749" y="2800349"/>
            <a:ext cx="11004698" cy="683420"/>
          </a:xfrm>
        </p:spPr>
        <p:txBody>
          <a:bodyPr/>
          <a:lstStyle/>
          <a:p>
            <a:r>
              <a:rPr lang="en-IN" sz="5400" dirty="0">
                <a:solidFill>
                  <a:schemeClr val="tx1"/>
                </a:solidFill>
                <a:latin typeface="Calibri "/>
                <a:cs typeface="Aldhabi" panose="020F0502020204030204" pitchFamily="2" charset="-78"/>
              </a:rPr>
              <a:t>Website Additional Content Inputs </a:t>
            </a:r>
          </a:p>
        </p:txBody>
      </p:sp>
      <p:sp>
        <p:nvSpPr>
          <p:cNvPr id="3" name="Subtitle 2">
            <a:extLst>
              <a:ext uri="{FF2B5EF4-FFF2-40B4-BE49-F238E27FC236}">
                <a16:creationId xmlns:a16="http://schemas.microsoft.com/office/drawing/2014/main" id="{06F65A11-B3F6-E87F-C89B-726C0F14BB74}"/>
              </a:ext>
            </a:extLst>
          </p:cNvPr>
          <p:cNvSpPr>
            <a:spLocks noGrp="1"/>
          </p:cNvSpPr>
          <p:nvPr>
            <p:ph type="subTitle" idx="1"/>
          </p:nvPr>
        </p:nvSpPr>
        <p:spPr>
          <a:xfrm>
            <a:off x="1524000" y="3483770"/>
            <a:ext cx="9144000" cy="683420"/>
          </a:xfrm>
        </p:spPr>
        <p:txBody>
          <a:bodyPr/>
          <a:lstStyle/>
          <a:p>
            <a:r>
              <a:rPr lang="en-IN" sz="4000" b="1" dirty="0">
                <a:solidFill>
                  <a:srgbClr val="002060"/>
                </a:solidFill>
              </a:rPr>
              <a:t>Primal Solutions </a:t>
            </a:r>
          </a:p>
        </p:txBody>
      </p:sp>
      <p:sp>
        <p:nvSpPr>
          <p:cNvPr id="4" name="Slide Number Placeholder 3">
            <a:extLst>
              <a:ext uri="{FF2B5EF4-FFF2-40B4-BE49-F238E27FC236}">
                <a16:creationId xmlns:a16="http://schemas.microsoft.com/office/drawing/2014/main" id="{22CF181F-88DA-23B4-5204-9528DC160A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cxnSp>
        <p:nvCxnSpPr>
          <p:cNvPr id="5" name="Straight Connector 4">
            <a:extLst>
              <a:ext uri="{FF2B5EF4-FFF2-40B4-BE49-F238E27FC236}">
                <a16:creationId xmlns:a16="http://schemas.microsoft.com/office/drawing/2014/main" id="{115937AC-2748-87CA-8118-99B13168006B}"/>
              </a:ext>
            </a:extLst>
          </p:cNvPr>
          <p:cNvCxnSpPr>
            <a:cxnSpLocks/>
          </p:cNvCxnSpPr>
          <p:nvPr/>
        </p:nvCxnSpPr>
        <p:spPr>
          <a:xfrm>
            <a:off x="394830" y="949468"/>
            <a:ext cx="11456768" cy="0"/>
          </a:xfrm>
          <a:prstGeom prst="line">
            <a:avLst/>
          </a:pr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0AF95A46-2AD7-BAA4-9265-72BEE14AA18A}"/>
              </a:ext>
            </a:extLst>
          </p:cNvPr>
          <p:cNvPicPr>
            <a:picLocks noChangeAspect="1"/>
          </p:cNvPicPr>
          <p:nvPr/>
        </p:nvPicPr>
        <p:blipFill>
          <a:blip r:embed="rId2"/>
          <a:stretch>
            <a:fillRect/>
          </a:stretch>
        </p:blipFill>
        <p:spPr>
          <a:xfrm>
            <a:off x="9137450" y="176203"/>
            <a:ext cx="2729588" cy="773265"/>
          </a:xfrm>
          <a:prstGeom prst="rect">
            <a:avLst/>
          </a:prstGeom>
        </p:spPr>
      </p:pic>
    </p:spTree>
    <p:extLst>
      <p:ext uri="{BB962C8B-B14F-4D97-AF65-F5344CB8AC3E}">
        <p14:creationId xmlns:p14="http://schemas.microsoft.com/office/powerpoint/2010/main" val="1858937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dras Radiators And Pressings Ltd - Auto Industry News">
            <a:extLst>
              <a:ext uri="{FF2B5EF4-FFF2-40B4-BE49-F238E27FC236}">
                <a16:creationId xmlns:a16="http://schemas.microsoft.com/office/drawing/2014/main" id="{8734C31A-A932-B7E9-AFE7-0E491C8F87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754" y="988694"/>
            <a:ext cx="1750695" cy="175069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nufacturer of Automotive Components &amp; Industrial Fastener by Vee S ...">
            <a:extLst>
              <a:ext uri="{FF2B5EF4-FFF2-40B4-BE49-F238E27FC236}">
                <a16:creationId xmlns:a16="http://schemas.microsoft.com/office/drawing/2014/main" id="{0E3D8823-55CE-7B23-6D44-B9BDB0201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437" y="2876550"/>
            <a:ext cx="1432843" cy="127552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3172D4B-4595-A48C-72C9-5A80817ADC1D}"/>
              </a:ext>
            </a:extLst>
          </p:cNvPr>
          <p:cNvPicPr>
            <a:picLocks noChangeAspect="1"/>
          </p:cNvPicPr>
          <p:nvPr/>
        </p:nvPicPr>
        <p:blipFill>
          <a:blip r:embed="rId4"/>
          <a:stretch>
            <a:fillRect/>
          </a:stretch>
        </p:blipFill>
        <p:spPr>
          <a:xfrm>
            <a:off x="3420778" y="1362993"/>
            <a:ext cx="1786638" cy="1014447"/>
          </a:xfrm>
          <a:prstGeom prst="rect">
            <a:avLst/>
          </a:prstGeom>
        </p:spPr>
      </p:pic>
      <p:pic>
        <p:nvPicPr>
          <p:cNvPr id="1030" name="Picture 6" descr="STS Manufacturing Private Limited - Manufacturer of Automobile parts ...">
            <a:extLst>
              <a:ext uri="{FF2B5EF4-FFF2-40B4-BE49-F238E27FC236}">
                <a16:creationId xmlns:a16="http://schemas.microsoft.com/office/drawing/2014/main" id="{670C5144-6792-7F7C-EAB4-8E90052FD3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2935" y="2876550"/>
            <a:ext cx="1895475" cy="13239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abha Automotive Engineers Pvt Ltd - Auto Industry News">
            <a:extLst>
              <a:ext uri="{FF2B5EF4-FFF2-40B4-BE49-F238E27FC236}">
                <a16:creationId xmlns:a16="http://schemas.microsoft.com/office/drawing/2014/main" id="{1A57BC66-E958-4AD7-C554-72A4CBF428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1065" y="784842"/>
            <a:ext cx="2154521" cy="215452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asco Engineering India Pvt. Ltd.">
            <a:extLst>
              <a:ext uri="{FF2B5EF4-FFF2-40B4-BE49-F238E27FC236}">
                <a16:creationId xmlns:a16="http://schemas.microsoft.com/office/drawing/2014/main" id="{9CE7499D-608D-D015-E955-06114B6D99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44514" y="3053715"/>
            <a:ext cx="2576274" cy="7943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54A48B1-120C-D811-A37A-0BB69570E7D7}"/>
              </a:ext>
            </a:extLst>
          </p:cNvPr>
          <p:cNvPicPr>
            <a:picLocks noChangeAspect="1"/>
          </p:cNvPicPr>
          <p:nvPr/>
        </p:nvPicPr>
        <p:blipFill rotWithShape="1">
          <a:blip r:embed="rId8"/>
          <a:srcRect l="8860" t="11690" r="4105"/>
          <a:stretch/>
        </p:blipFill>
        <p:spPr>
          <a:xfrm>
            <a:off x="730455" y="5038309"/>
            <a:ext cx="1586805" cy="830997"/>
          </a:xfrm>
          <a:prstGeom prst="rect">
            <a:avLst/>
          </a:prstGeom>
        </p:spPr>
      </p:pic>
      <p:pic>
        <p:nvPicPr>
          <p:cNvPr id="7" name="Picture 6">
            <a:extLst>
              <a:ext uri="{FF2B5EF4-FFF2-40B4-BE49-F238E27FC236}">
                <a16:creationId xmlns:a16="http://schemas.microsoft.com/office/drawing/2014/main" id="{00000000-0008-0000-0000-00002D000000}"/>
              </a:ext>
            </a:extLst>
          </p:cNvPr>
          <p:cNvPicPr>
            <a:picLocks/>
          </p:cNvPicPr>
          <p:nvPr/>
        </p:nvPicPr>
        <p:blipFill>
          <a:blip r:embed="rId9" r:link="rId10" cstate="print">
            <a:extLst>
              <a:ext uri="{28A0092B-C50C-407E-A947-70E740481C1C}">
                <a14:useLocalDpi xmlns:a14="http://schemas.microsoft.com/office/drawing/2010/main" val="0"/>
              </a:ext>
            </a:extLst>
          </a:blip>
          <a:stretch>
            <a:fillRect/>
          </a:stretch>
        </p:blipFill>
        <p:spPr>
          <a:xfrm>
            <a:off x="3211773" y="5038309"/>
            <a:ext cx="1586806" cy="830997"/>
          </a:xfrm>
          <a:prstGeom prst="rect">
            <a:avLst/>
          </a:prstGeom>
        </p:spPr>
      </p:pic>
      <p:pic>
        <p:nvPicPr>
          <p:cNvPr id="9" name="Picture 8">
            <a:extLst>
              <a:ext uri="{FF2B5EF4-FFF2-40B4-BE49-F238E27FC236}">
                <a16:creationId xmlns:a16="http://schemas.microsoft.com/office/drawing/2014/main" id="{20090D32-0E92-A047-CE38-592920688E39}"/>
              </a:ext>
            </a:extLst>
          </p:cNvPr>
          <p:cNvPicPr>
            <a:picLocks noChangeAspect="1"/>
          </p:cNvPicPr>
          <p:nvPr/>
        </p:nvPicPr>
        <p:blipFill>
          <a:blip r:embed="rId11"/>
          <a:stretch>
            <a:fillRect/>
          </a:stretch>
        </p:blipFill>
        <p:spPr>
          <a:xfrm>
            <a:off x="6096000" y="4860635"/>
            <a:ext cx="1139300" cy="1139300"/>
          </a:xfrm>
          <a:prstGeom prst="rect">
            <a:avLst/>
          </a:prstGeom>
        </p:spPr>
      </p:pic>
      <p:pic>
        <p:nvPicPr>
          <p:cNvPr id="1036" name="Picture 12" descr="Epdm Rubber Ashok Leyland Spare Part at ₹ 400/meter in Tiruvallur | ID ...">
            <a:extLst>
              <a:ext uri="{FF2B5EF4-FFF2-40B4-BE49-F238E27FC236}">
                <a16:creationId xmlns:a16="http://schemas.microsoft.com/office/drawing/2014/main" id="{564C2130-92D5-7A67-5D90-7EC0AB6FF78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761" t="5744" r="1857" b="4382"/>
          <a:stretch>
            <a:fillRect/>
          </a:stretch>
        </p:blipFill>
        <p:spPr bwMode="auto">
          <a:xfrm>
            <a:off x="8762512" y="1362993"/>
            <a:ext cx="2417568" cy="879191"/>
          </a:xfrm>
          <a:prstGeom prst="rect">
            <a:avLst/>
          </a:prstGeom>
          <a:noFill/>
          <a:extLst>
            <a:ext uri="{909E8E84-426E-40DD-AFC4-6F175D3DCCD1}">
              <a14:hiddenFill xmlns:a14="http://schemas.microsoft.com/office/drawing/2010/main">
                <a:solidFill>
                  <a:srgbClr val="FFFFFF"/>
                </a:solidFill>
              </a14:hiddenFill>
            </a:ext>
          </a:extLst>
        </p:spPr>
      </p:pic>
      <p:cxnSp>
        <p:nvCxnSpPr>
          <p:cNvPr id="2" name="Straight Connector 1">
            <a:extLst>
              <a:ext uri="{FF2B5EF4-FFF2-40B4-BE49-F238E27FC236}">
                <a16:creationId xmlns:a16="http://schemas.microsoft.com/office/drawing/2014/main" id="{AC74A403-73D4-22C5-1C35-97B4AC58CD13}"/>
              </a:ext>
            </a:extLst>
          </p:cNvPr>
          <p:cNvCxnSpPr>
            <a:cxnSpLocks/>
          </p:cNvCxnSpPr>
          <p:nvPr/>
        </p:nvCxnSpPr>
        <p:spPr>
          <a:xfrm>
            <a:off x="394830" y="949468"/>
            <a:ext cx="11456768" cy="0"/>
          </a:xfrm>
          <a:prstGeom prst="line">
            <a:avLst/>
          </a:pr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31B8C87-B865-ABE3-F701-5465E4C0A3FC}"/>
              </a:ext>
            </a:extLst>
          </p:cNvPr>
          <p:cNvPicPr>
            <a:picLocks noChangeAspect="1"/>
          </p:cNvPicPr>
          <p:nvPr/>
        </p:nvPicPr>
        <p:blipFill>
          <a:blip r:embed="rId13"/>
          <a:stretch>
            <a:fillRect/>
          </a:stretch>
        </p:blipFill>
        <p:spPr>
          <a:xfrm>
            <a:off x="9137450" y="176203"/>
            <a:ext cx="2729588" cy="773265"/>
          </a:xfrm>
          <a:prstGeom prst="rect">
            <a:avLst/>
          </a:prstGeom>
        </p:spPr>
      </p:pic>
    </p:spTree>
    <p:extLst>
      <p:ext uri="{BB962C8B-B14F-4D97-AF65-F5344CB8AC3E}">
        <p14:creationId xmlns:p14="http://schemas.microsoft.com/office/powerpoint/2010/main" val="2580852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1B8D6-F1F9-4355-6D4B-B2D2167098DA}"/>
            </a:ext>
          </a:extLst>
        </p:cNvPr>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A68B242A-E222-BF08-F424-BC3A50DBAC7B}"/>
              </a:ext>
            </a:extLst>
          </p:cNvPr>
          <p:cNvCxnSpPr>
            <a:cxnSpLocks/>
          </p:cNvCxnSpPr>
          <p:nvPr/>
        </p:nvCxnSpPr>
        <p:spPr>
          <a:xfrm>
            <a:off x="394830" y="949468"/>
            <a:ext cx="11456768" cy="0"/>
          </a:xfrm>
          <a:prstGeom prst="line">
            <a:avLst/>
          </a:pr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5A05DB88-351A-EC91-268C-0C51B40D9961}"/>
              </a:ext>
            </a:extLst>
          </p:cNvPr>
          <p:cNvPicPr>
            <a:picLocks noChangeAspect="1"/>
          </p:cNvPicPr>
          <p:nvPr/>
        </p:nvPicPr>
        <p:blipFill>
          <a:blip r:embed="rId2"/>
          <a:stretch>
            <a:fillRect/>
          </a:stretch>
        </p:blipFill>
        <p:spPr>
          <a:xfrm>
            <a:off x="9137450" y="176203"/>
            <a:ext cx="2729588" cy="773265"/>
          </a:xfrm>
          <a:prstGeom prst="rect">
            <a:avLst/>
          </a:prstGeom>
        </p:spPr>
      </p:pic>
      <p:sp>
        <p:nvSpPr>
          <p:cNvPr id="19" name="TextBox 18">
            <a:extLst>
              <a:ext uri="{FF2B5EF4-FFF2-40B4-BE49-F238E27FC236}">
                <a16:creationId xmlns:a16="http://schemas.microsoft.com/office/drawing/2014/main" id="{7FCA7A85-781F-ED3B-5685-7EF732F76D6D}"/>
              </a:ext>
            </a:extLst>
          </p:cNvPr>
          <p:cNvSpPr txBox="1"/>
          <p:nvPr/>
        </p:nvSpPr>
        <p:spPr>
          <a:xfrm>
            <a:off x="394830" y="102870"/>
            <a:ext cx="3388995" cy="1446550"/>
          </a:xfrm>
          <a:prstGeom prst="rect">
            <a:avLst/>
          </a:prstGeom>
          <a:noFill/>
        </p:spPr>
        <p:txBody>
          <a:bodyPr wrap="square" rtlCol="0">
            <a:spAutoFit/>
          </a:bodyPr>
          <a:lstStyle/>
          <a:p>
            <a:r>
              <a:rPr lang="en-US" sz="4400" b="1" kern="1200" dirty="0">
                <a:solidFill>
                  <a:schemeClr val="tx1"/>
                </a:solidFill>
                <a:latin typeface="+mn-lt"/>
                <a:ea typeface="+mn-ea"/>
                <a:cs typeface="+mn-cs"/>
              </a:rPr>
              <a:t>About Us</a:t>
            </a:r>
          </a:p>
          <a:p>
            <a:endParaRPr lang="en-US" sz="4400" b="1" kern="1200" dirty="0">
              <a:solidFill>
                <a:schemeClr val="tx1"/>
              </a:solidFill>
              <a:latin typeface="+mn-lt"/>
              <a:ea typeface="+mn-ea"/>
              <a:cs typeface="+mn-cs"/>
            </a:endParaRPr>
          </a:p>
        </p:txBody>
      </p:sp>
      <p:sp>
        <p:nvSpPr>
          <p:cNvPr id="21" name="TextBox 20">
            <a:extLst>
              <a:ext uri="{FF2B5EF4-FFF2-40B4-BE49-F238E27FC236}">
                <a16:creationId xmlns:a16="http://schemas.microsoft.com/office/drawing/2014/main" id="{BFBE343B-3A78-62CF-22CE-3E04EE09C323}"/>
              </a:ext>
            </a:extLst>
          </p:cNvPr>
          <p:cNvSpPr txBox="1"/>
          <p:nvPr/>
        </p:nvSpPr>
        <p:spPr>
          <a:xfrm>
            <a:off x="359252" y="1153347"/>
            <a:ext cx="7070248" cy="1077218"/>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Strategic Planning </a:t>
            </a:r>
          </a:p>
          <a:p>
            <a:r>
              <a:rPr lang="en-US" sz="2000" dirty="0">
                <a:latin typeface="Calibri" panose="020F0502020204030204" pitchFamily="34" charset="0"/>
                <a:ea typeface="Calibri" panose="020F0502020204030204" pitchFamily="34" charset="0"/>
                <a:cs typeface="Calibri" panose="020F0502020204030204" pitchFamily="34" charset="0"/>
              </a:rPr>
              <a:t>Turning vision into action through clear strategy, performance-driven KPIs, and scalable growth.</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23" name="Picture 22">
            <a:extLst>
              <a:ext uri="{FF2B5EF4-FFF2-40B4-BE49-F238E27FC236}">
                <a16:creationId xmlns:a16="http://schemas.microsoft.com/office/drawing/2014/main" id="{0F4BF85A-21C0-B1C2-D2B5-B5F32E39FFA5}"/>
              </a:ext>
            </a:extLst>
          </p:cNvPr>
          <p:cNvPicPr>
            <a:picLocks noChangeAspect="1"/>
          </p:cNvPicPr>
          <p:nvPr/>
        </p:nvPicPr>
        <p:blipFill>
          <a:blip r:embed="rId3"/>
          <a:stretch>
            <a:fillRect/>
          </a:stretch>
        </p:blipFill>
        <p:spPr>
          <a:xfrm>
            <a:off x="7228659" y="1434817"/>
            <a:ext cx="4638379" cy="3535067"/>
          </a:xfrm>
          <a:prstGeom prst="rect">
            <a:avLst/>
          </a:prstGeom>
        </p:spPr>
      </p:pic>
      <p:sp>
        <p:nvSpPr>
          <p:cNvPr id="24" name="TextBox 23">
            <a:extLst>
              <a:ext uri="{FF2B5EF4-FFF2-40B4-BE49-F238E27FC236}">
                <a16:creationId xmlns:a16="http://schemas.microsoft.com/office/drawing/2014/main" id="{72A219BA-3DA7-61F0-5211-22DB45936FC7}"/>
              </a:ext>
            </a:extLst>
          </p:cNvPr>
          <p:cNvSpPr txBox="1"/>
          <p:nvPr/>
        </p:nvSpPr>
        <p:spPr>
          <a:xfrm>
            <a:off x="324962" y="2558471"/>
            <a:ext cx="7070248" cy="1077218"/>
          </a:xfrm>
          <a:prstGeom prst="rect">
            <a:avLst/>
          </a:prstGeom>
          <a:noFill/>
        </p:spPr>
        <p:txBody>
          <a:bodyPr wrap="square">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Operational Excellence &amp; Lean Transformation</a:t>
            </a:r>
          </a:p>
          <a:p>
            <a:r>
              <a:rPr lang="en-US" sz="2000" dirty="0">
                <a:latin typeface="Calibri" panose="020F0502020204030204" pitchFamily="34" charset="0"/>
                <a:ea typeface="Calibri" panose="020F0502020204030204" pitchFamily="34" charset="0"/>
                <a:cs typeface="Calibri" panose="020F0502020204030204" pitchFamily="34" charset="0"/>
              </a:rPr>
              <a:t>Driving operational excellence by eliminating waste and embedding Lean practices for sustained performance.</a:t>
            </a:r>
          </a:p>
        </p:txBody>
      </p:sp>
      <p:sp>
        <p:nvSpPr>
          <p:cNvPr id="27" name="TextBox 26">
            <a:extLst>
              <a:ext uri="{FF2B5EF4-FFF2-40B4-BE49-F238E27FC236}">
                <a16:creationId xmlns:a16="http://schemas.microsoft.com/office/drawing/2014/main" id="{518B690E-AA7C-C2FC-F716-76FDE8AD2A35}"/>
              </a:ext>
            </a:extLst>
          </p:cNvPr>
          <p:cNvSpPr txBox="1"/>
          <p:nvPr/>
        </p:nvSpPr>
        <p:spPr>
          <a:xfrm>
            <a:off x="324962" y="3940868"/>
            <a:ext cx="6738778" cy="1077218"/>
          </a:xfrm>
          <a:prstGeom prst="rect">
            <a:avLst/>
          </a:prstGeom>
          <a:noFill/>
        </p:spPr>
        <p:txBody>
          <a:bodyPr wrap="square">
            <a:spAutoFit/>
          </a:bodyPr>
          <a:lstStyle/>
          <a:p>
            <a:pPr lvl="0">
              <a:defRPr/>
            </a:pPr>
            <a:r>
              <a:rPr lang="en-IN" sz="2400" b="1" dirty="0">
                <a:latin typeface="Calibri" panose="020F0502020204030204" pitchFamily="34" charset="0"/>
                <a:ea typeface="Calibri" panose="020F0502020204030204" pitchFamily="34" charset="0"/>
                <a:cs typeface="Calibri" panose="020F0502020204030204" pitchFamily="34" charset="0"/>
              </a:rPr>
              <a:t>Digital &amp; Smart Factory Transformation</a:t>
            </a:r>
          </a:p>
          <a:p>
            <a:pPr lvl="0">
              <a:defRPr/>
            </a:pPr>
            <a:r>
              <a:rPr lang="en-US" sz="2000" dirty="0">
                <a:latin typeface="Calibri" panose="020F0502020204030204" pitchFamily="34" charset="0"/>
                <a:ea typeface="Calibri" panose="020F0502020204030204" pitchFamily="34" charset="0"/>
                <a:cs typeface="Calibri" panose="020F0502020204030204" pitchFamily="34" charset="0"/>
              </a:rPr>
              <a:t>Transforming traditional plants into smart, data-driven factories through digital integration and advanced analytics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28" name="TextBox 27">
            <a:extLst>
              <a:ext uri="{FF2B5EF4-FFF2-40B4-BE49-F238E27FC236}">
                <a16:creationId xmlns:a16="http://schemas.microsoft.com/office/drawing/2014/main" id="{8A1FF182-06BC-E42A-5AD0-E37556EC7B6B}"/>
              </a:ext>
            </a:extLst>
          </p:cNvPr>
          <p:cNvSpPr txBox="1"/>
          <p:nvPr/>
        </p:nvSpPr>
        <p:spPr>
          <a:xfrm>
            <a:off x="7132855" y="5244690"/>
            <a:ext cx="4960085" cy="646331"/>
          </a:xfrm>
          <a:prstGeom prst="rect">
            <a:avLst/>
          </a:prstGeom>
          <a:noFill/>
        </p:spPr>
        <p:txBody>
          <a:bodyPr wrap="square">
            <a:spAutoFit/>
          </a:bodyPr>
          <a:lstStyle/>
          <a:p>
            <a:pPr lvl="0">
              <a:defRPr/>
            </a:pP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Note :</a:t>
            </a:r>
          </a:p>
          <a:p>
            <a:pPr lvl="0">
              <a:defRPr/>
            </a:pP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Please replace the heading and content as shown</a:t>
            </a:r>
            <a:endParaRPr lang="en-IN" sz="16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7F1D86BE-625E-51B3-090D-8098F23B5C09}"/>
              </a:ext>
            </a:extLst>
          </p:cNvPr>
          <p:cNvSpPr txBox="1"/>
          <p:nvPr/>
        </p:nvSpPr>
        <p:spPr>
          <a:xfrm>
            <a:off x="359252" y="5244690"/>
            <a:ext cx="6738778" cy="1077218"/>
          </a:xfrm>
          <a:prstGeom prst="rect">
            <a:avLst/>
          </a:prstGeom>
          <a:noFill/>
        </p:spPr>
        <p:txBody>
          <a:bodyPr wrap="square">
            <a:spAutoFit/>
          </a:bodyPr>
          <a:lstStyle/>
          <a:p>
            <a:pPr lvl="0">
              <a:defRPr/>
            </a:pPr>
            <a:r>
              <a:rPr lang="en-IN" sz="2400" b="1" dirty="0">
                <a:latin typeface="Calibri" panose="020F0502020204030204" pitchFamily="34" charset="0"/>
                <a:ea typeface="Calibri" panose="020F0502020204030204" pitchFamily="34" charset="0"/>
                <a:cs typeface="Calibri" panose="020F0502020204030204" pitchFamily="34" charset="0"/>
              </a:rPr>
              <a:t>Talent Acquisition &amp; Skill Development</a:t>
            </a:r>
          </a:p>
          <a:p>
            <a:pPr lvl="0">
              <a:defRPr/>
            </a:pPr>
            <a:r>
              <a:rPr lang="en-US" sz="2000" dirty="0">
                <a:latin typeface="Calibri" panose="020F0502020204030204" pitchFamily="34" charset="0"/>
                <a:ea typeface="Calibri" panose="020F0502020204030204" pitchFamily="34" charset="0"/>
                <a:cs typeface="Calibri" panose="020F0502020204030204" pitchFamily="34" charset="0"/>
              </a:rPr>
              <a:t>Building strong organizations through the right hiring and future-ready skill development</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4116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C4C9A6-0DBC-5F5F-6B8D-83F7F97509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6" name="TextBox 5">
            <a:extLst>
              <a:ext uri="{FF2B5EF4-FFF2-40B4-BE49-F238E27FC236}">
                <a16:creationId xmlns:a16="http://schemas.microsoft.com/office/drawing/2014/main" id="{C301A6CD-089F-3A3A-8447-24D0D127C2EB}"/>
              </a:ext>
            </a:extLst>
          </p:cNvPr>
          <p:cNvSpPr txBox="1"/>
          <p:nvPr/>
        </p:nvSpPr>
        <p:spPr>
          <a:xfrm>
            <a:off x="455787" y="874455"/>
            <a:ext cx="4699873" cy="4893647"/>
          </a:xfrm>
          <a:prstGeom prst="rect">
            <a:avLst/>
          </a:prstGeom>
          <a:noFill/>
        </p:spPr>
        <p:txBody>
          <a:bodyPr wrap="square">
            <a:spAutoFit/>
          </a:bodyPr>
          <a:lstStyle/>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 We turn strategic vision into measurable results through hands-on, execution-focused consulting. Combining deep industry expertise with performance-driven frameworks, we help organizations optimize operations, enter markets successfully, and build lasting competitive advantage—aligning strategy, operations, and capability development for sustainable growth.</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1716601-BCB9-3003-2EEA-FA85F3571952}"/>
              </a:ext>
            </a:extLst>
          </p:cNvPr>
          <p:cNvSpPr txBox="1"/>
          <p:nvPr/>
        </p:nvSpPr>
        <p:spPr>
          <a:xfrm>
            <a:off x="5542159" y="4631477"/>
            <a:ext cx="4960085" cy="646331"/>
          </a:xfrm>
          <a:prstGeom prst="rect">
            <a:avLst/>
          </a:prstGeom>
          <a:noFill/>
        </p:spPr>
        <p:txBody>
          <a:bodyPr wrap="square">
            <a:spAutoFit/>
          </a:bodyPr>
          <a:lstStyle/>
          <a:p>
            <a:pPr lvl="0">
              <a:defRPr/>
            </a:pP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Note :</a:t>
            </a:r>
          </a:p>
          <a:p>
            <a:pPr lvl="0">
              <a:defRPr/>
            </a:pPr>
            <a:r>
              <a:rPr lang="en-IN" b="1" dirty="0">
                <a:solidFill>
                  <a:srgbClr val="FF0000"/>
                </a:solidFill>
                <a:latin typeface="Calibri" panose="020F0502020204030204" pitchFamily="34" charset="0"/>
                <a:ea typeface="Calibri" panose="020F0502020204030204" pitchFamily="34" charset="0"/>
                <a:cs typeface="Calibri" panose="020F0502020204030204" pitchFamily="34" charset="0"/>
              </a:rPr>
              <a:t>Please replace the content and change the picture </a:t>
            </a:r>
            <a:endParaRPr lang="en-IN" sz="16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B6A579E0-F02B-8DE0-2BE6-A971E5D1A8A4}"/>
              </a:ext>
            </a:extLst>
          </p:cNvPr>
          <p:cNvPicPr>
            <a:picLocks noChangeAspect="1"/>
          </p:cNvPicPr>
          <p:nvPr/>
        </p:nvPicPr>
        <p:blipFill>
          <a:blip r:embed="rId2"/>
          <a:stretch>
            <a:fillRect/>
          </a:stretch>
        </p:blipFill>
        <p:spPr>
          <a:xfrm>
            <a:off x="5481038" y="1304818"/>
            <a:ext cx="6386000" cy="3123710"/>
          </a:xfrm>
          <a:prstGeom prst="rect">
            <a:avLst/>
          </a:prstGeom>
        </p:spPr>
      </p:pic>
      <p:cxnSp>
        <p:nvCxnSpPr>
          <p:cNvPr id="10" name="Straight Connector 9">
            <a:extLst>
              <a:ext uri="{FF2B5EF4-FFF2-40B4-BE49-F238E27FC236}">
                <a16:creationId xmlns:a16="http://schemas.microsoft.com/office/drawing/2014/main" id="{7936FC3F-386B-4731-5BA8-8DB73275A37A}"/>
              </a:ext>
            </a:extLst>
          </p:cNvPr>
          <p:cNvCxnSpPr>
            <a:cxnSpLocks/>
          </p:cNvCxnSpPr>
          <p:nvPr/>
        </p:nvCxnSpPr>
        <p:spPr>
          <a:xfrm>
            <a:off x="394830" y="949468"/>
            <a:ext cx="11456768" cy="0"/>
          </a:xfrm>
          <a:prstGeom prst="line">
            <a:avLst/>
          </a:pr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18EAE119-2349-A4B2-835B-38C097647A96}"/>
              </a:ext>
            </a:extLst>
          </p:cNvPr>
          <p:cNvPicPr>
            <a:picLocks noChangeAspect="1"/>
          </p:cNvPicPr>
          <p:nvPr/>
        </p:nvPicPr>
        <p:blipFill>
          <a:blip r:embed="rId3"/>
          <a:stretch>
            <a:fillRect/>
          </a:stretch>
        </p:blipFill>
        <p:spPr>
          <a:xfrm>
            <a:off x="9137450" y="176203"/>
            <a:ext cx="2729588" cy="773265"/>
          </a:xfrm>
          <a:prstGeom prst="rect">
            <a:avLst/>
          </a:prstGeom>
        </p:spPr>
      </p:pic>
      <p:sp>
        <p:nvSpPr>
          <p:cNvPr id="12" name="TextBox 11">
            <a:extLst>
              <a:ext uri="{FF2B5EF4-FFF2-40B4-BE49-F238E27FC236}">
                <a16:creationId xmlns:a16="http://schemas.microsoft.com/office/drawing/2014/main" id="{308A2603-99E1-CDBE-80E6-5CAC97B8769C}"/>
              </a:ext>
            </a:extLst>
          </p:cNvPr>
          <p:cNvSpPr txBox="1"/>
          <p:nvPr/>
        </p:nvSpPr>
        <p:spPr>
          <a:xfrm>
            <a:off x="394830" y="102870"/>
            <a:ext cx="3388995" cy="1446550"/>
          </a:xfrm>
          <a:prstGeom prst="rect">
            <a:avLst/>
          </a:prstGeom>
          <a:noFill/>
        </p:spPr>
        <p:txBody>
          <a:bodyPr wrap="square" rtlCol="0">
            <a:spAutoFit/>
          </a:bodyPr>
          <a:lstStyle/>
          <a:p>
            <a:r>
              <a:rPr lang="en-US" sz="4400" b="1" kern="1200" dirty="0">
                <a:solidFill>
                  <a:schemeClr val="tx1"/>
                </a:solidFill>
                <a:latin typeface="+mn-lt"/>
                <a:ea typeface="+mn-ea"/>
                <a:cs typeface="+mn-cs"/>
              </a:rPr>
              <a:t>Sector Page </a:t>
            </a:r>
          </a:p>
          <a:p>
            <a:endParaRPr lang="en-US" sz="4400" b="1" kern="1200" dirty="0">
              <a:solidFill>
                <a:schemeClr val="tx1"/>
              </a:solidFill>
              <a:latin typeface="+mn-lt"/>
              <a:ea typeface="+mn-ea"/>
              <a:cs typeface="+mn-cs"/>
            </a:endParaRPr>
          </a:p>
        </p:txBody>
      </p:sp>
    </p:spTree>
    <p:extLst>
      <p:ext uri="{BB962C8B-B14F-4D97-AF65-F5344CB8AC3E}">
        <p14:creationId xmlns:p14="http://schemas.microsoft.com/office/powerpoint/2010/main" val="330822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F9A26-3776-73CE-FB8C-84FFB2ADBD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61D4A6-481A-0DE2-A9A1-AFD763E7F53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cxnSp>
        <p:nvCxnSpPr>
          <p:cNvPr id="10" name="Straight Connector 9">
            <a:extLst>
              <a:ext uri="{FF2B5EF4-FFF2-40B4-BE49-F238E27FC236}">
                <a16:creationId xmlns:a16="http://schemas.microsoft.com/office/drawing/2014/main" id="{000DCE7D-4BA7-D322-C316-A158B0030EEA}"/>
              </a:ext>
            </a:extLst>
          </p:cNvPr>
          <p:cNvCxnSpPr>
            <a:cxnSpLocks/>
          </p:cNvCxnSpPr>
          <p:nvPr/>
        </p:nvCxnSpPr>
        <p:spPr>
          <a:xfrm>
            <a:off x="394830" y="949468"/>
            <a:ext cx="11456768" cy="0"/>
          </a:xfrm>
          <a:prstGeom prst="line">
            <a:avLst/>
          </a:pr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5F86CA2-E3E6-6962-654B-7DD5049F2553}"/>
              </a:ext>
            </a:extLst>
          </p:cNvPr>
          <p:cNvPicPr>
            <a:picLocks noChangeAspect="1"/>
          </p:cNvPicPr>
          <p:nvPr/>
        </p:nvPicPr>
        <p:blipFill>
          <a:blip r:embed="rId2"/>
          <a:stretch>
            <a:fillRect/>
          </a:stretch>
        </p:blipFill>
        <p:spPr>
          <a:xfrm>
            <a:off x="9137450" y="176203"/>
            <a:ext cx="2729588" cy="773265"/>
          </a:xfrm>
          <a:prstGeom prst="rect">
            <a:avLst/>
          </a:prstGeom>
        </p:spPr>
      </p:pic>
      <p:sp>
        <p:nvSpPr>
          <p:cNvPr id="12" name="TextBox 11">
            <a:extLst>
              <a:ext uri="{FF2B5EF4-FFF2-40B4-BE49-F238E27FC236}">
                <a16:creationId xmlns:a16="http://schemas.microsoft.com/office/drawing/2014/main" id="{62AEB338-BCEE-C2F0-06F6-9D07E83E77BC}"/>
              </a:ext>
            </a:extLst>
          </p:cNvPr>
          <p:cNvSpPr txBox="1"/>
          <p:nvPr/>
        </p:nvSpPr>
        <p:spPr>
          <a:xfrm>
            <a:off x="394830" y="102870"/>
            <a:ext cx="3388995" cy="1446550"/>
          </a:xfrm>
          <a:prstGeom prst="rect">
            <a:avLst/>
          </a:prstGeom>
          <a:noFill/>
        </p:spPr>
        <p:txBody>
          <a:bodyPr wrap="square" rtlCol="0">
            <a:spAutoFit/>
          </a:bodyPr>
          <a:lstStyle/>
          <a:p>
            <a:r>
              <a:rPr lang="en-US" sz="4400" b="1" kern="1200" dirty="0">
                <a:solidFill>
                  <a:schemeClr val="tx1"/>
                </a:solidFill>
                <a:latin typeface="+mn-lt"/>
                <a:ea typeface="+mn-ea"/>
                <a:cs typeface="+mn-cs"/>
              </a:rPr>
              <a:t>FAQ’s</a:t>
            </a:r>
          </a:p>
          <a:p>
            <a:endParaRPr lang="en-US" sz="4400" b="1" kern="1200" dirty="0">
              <a:solidFill>
                <a:schemeClr val="tx1"/>
              </a:solidFill>
              <a:latin typeface="+mn-lt"/>
              <a:ea typeface="+mn-ea"/>
              <a:cs typeface="+mn-cs"/>
            </a:endParaRPr>
          </a:p>
        </p:txBody>
      </p:sp>
      <p:sp>
        <p:nvSpPr>
          <p:cNvPr id="3" name="TextBox 2">
            <a:extLst>
              <a:ext uri="{FF2B5EF4-FFF2-40B4-BE49-F238E27FC236}">
                <a16:creationId xmlns:a16="http://schemas.microsoft.com/office/drawing/2014/main" id="{53D40820-3FDC-9505-EE10-FBDC7D9B7302}"/>
              </a:ext>
            </a:extLst>
          </p:cNvPr>
          <p:cNvSpPr txBox="1"/>
          <p:nvPr/>
        </p:nvSpPr>
        <p:spPr>
          <a:xfrm>
            <a:off x="394830" y="1182648"/>
            <a:ext cx="10499407" cy="4524315"/>
          </a:xfrm>
          <a:prstGeom prst="rect">
            <a:avLst/>
          </a:prstGeom>
          <a:noFill/>
        </p:spPr>
        <p:txBody>
          <a:bodyPr wrap="square">
            <a:spAutoFit/>
          </a:bodyPr>
          <a:lstStyle/>
          <a:p>
            <a:pPr marL="342900" indent="-342900">
              <a:buAutoNum type="arabicPeriod"/>
            </a:pPr>
            <a:r>
              <a:rPr lang="en-US" b="1" dirty="0"/>
              <a:t>What consulting services do you offer?</a:t>
            </a:r>
            <a:br>
              <a:rPr lang="en-US" dirty="0"/>
            </a:br>
            <a:r>
              <a:rPr lang="en-US" dirty="0"/>
              <a:t>We offer end-to-end consulting in strategy, operations, digital transformation, market insights, talent, and skill development.</a:t>
            </a:r>
          </a:p>
          <a:p>
            <a:pPr marL="342900" indent="-342900">
              <a:buAutoNum type="arabicPeriod"/>
            </a:pPr>
            <a:endParaRPr lang="en-US" dirty="0"/>
          </a:p>
          <a:p>
            <a:pPr>
              <a:buNone/>
            </a:pPr>
            <a:r>
              <a:rPr lang="en-US" b="1" dirty="0"/>
              <a:t>2. How can Primal Solutions help my business grow?</a:t>
            </a:r>
            <a:br>
              <a:rPr lang="en-US" dirty="0"/>
            </a:br>
            <a:r>
              <a:rPr lang="en-US" dirty="0"/>
              <a:t>We turn your vision into action, optimize operations, enable market success, and build capabilities for sustainable growth.</a:t>
            </a:r>
          </a:p>
          <a:p>
            <a:pPr>
              <a:buNone/>
            </a:pPr>
            <a:endParaRPr lang="en-US" dirty="0"/>
          </a:p>
          <a:p>
            <a:pPr>
              <a:buNone/>
            </a:pPr>
            <a:r>
              <a:rPr lang="en-US" b="1" dirty="0"/>
              <a:t>3. Which industries do you serve?</a:t>
            </a:r>
            <a:br>
              <a:rPr lang="en-US" dirty="0"/>
            </a:br>
            <a:r>
              <a:rPr lang="en-US" dirty="0"/>
              <a:t>We deliver tailored best-practice solutions across manufacturing, technology, services, and high-growth sectors</a:t>
            </a:r>
          </a:p>
          <a:p>
            <a:pPr>
              <a:buNone/>
            </a:pPr>
            <a:endParaRPr lang="en-US" dirty="0"/>
          </a:p>
          <a:p>
            <a:pPr>
              <a:buNone/>
            </a:pPr>
            <a:r>
              <a:rPr lang="en-US" b="1" dirty="0"/>
              <a:t>4. How do I start a consulting engagement?</a:t>
            </a:r>
            <a:br>
              <a:rPr lang="en-US" dirty="0"/>
            </a:br>
            <a:r>
              <a:rPr lang="en-US" dirty="0"/>
              <a:t>We understand your needs and deliver a tailored proposal with scope, timeline, and measurable results.”</a:t>
            </a:r>
          </a:p>
          <a:p>
            <a:pPr>
              <a:buNone/>
            </a:pPr>
            <a:endParaRPr lang="en-US" dirty="0"/>
          </a:p>
          <a:p>
            <a:pPr>
              <a:buNone/>
            </a:pPr>
            <a:r>
              <a:rPr lang="en-US" b="1" dirty="0"/>
              <a:t>5. How do you measure the success of your projects?</a:t>
            </a:r>
            <a:br>
              <a:rPr lang="en-US" dirty="0"/>
            </a:br>
            <a:r>
              <a:rPr lang="en-US" dirty="0"/>
              <a:t>KPIs and measurable outcomes demonstrate the success of our projects</a:t>
            </a:r>
          </a:p>
        </p:txBody>
      </p:sp>
    </p:spTree>
    <p:extLst>
      <p:ext uri="{BB962C8B-B14F-4D97-AF65-F5344CB8AC3E}">
        <p14:creationId xmlns:p14="http://schemas.microsoft.com/office/powerpoint/2010/main" val="395726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1D831-83C5-F152-ED8B-14ECB5E8B968}"/>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3D87843D-1E55-3CB9-C114-9C01C5A9F303}"/>
              </a:ext>
            </a:extLst>
          </p:cNvPr>
          <p:cNvSpPr>
            <a:spLocks noGrp="1"/>
          </p:cNvSpPr>
          <p:nvPr>
            <p:ph type="title"/>
          </p:nvPr>
        </p:nvSpPr>
        <p:spPr>
          <a:xfrm>
            <a:off x="-790551" y="2882831"/>
            <a:ext cx="13773101" cy="830997"/>
          </a:xfrm>
        </p:spPr>
        <p:txBody>
          <a:bodyPr/>
          <a:lstStyle/>
          <a:p>
            <a:pPr algn="ctr"/>
            <a:r>
              <a:rPr lang="en-IN" sz="4800" b="1" dirty="0">
                <a:solidFill>
                  <a:schemeClr val="tx1"/>
                </a:solidFill>
                <a:latin typeface="Calibri "/>
              </a:rPr>
              <a:t>Consultant Profile </a:t>
            </a:r>
            <a:endParaRPr lang="en-IN" sz="6000" b="1" dirty="0">
              <a:solidFill>
                <a:schemeClr val="tx1"/>
              </a:solidFill>
              <a:latin typeface="Calibri "/>
            </a:endParaRPr>
          </a:p>
        </p:txBody>
      </p:sp>
      <p:pic>
        <p:nvPicPr>
          <p:cNvPr id="3" name="Picture 2">
            <a:extLst>
              <a:ext uri="{FF2B5EF4-FFF2-40B4-BE49-F238E27FC236}">
                <a16:creationId xmlns:a16="http://schemas.microsoft.com/office/drawing/2014/main" id="{1D519BA1-949F-5187-9EDF-298C960AA414}"/>
              </a:ext>
            </a:extLst>
          </p:cNvPr>
          <p:cNvPicPr>
            <a:picLocks noChangeAspect="1"/>
          </p:cNvPicPr>
          <p:nvPr/>
        </p:nvPicPr>
        <p:blipFill>
          <a:blip r:embed="rId2"/>
          <a:stretch>
            <a:fillRect/>
          </a:stretch>
        </p:blipFill>
        <p:spPr>
          <a:xfrm>
            <a:off x="9145426" y="324424"/>
            <a:ext cx="2586644" cy="480764"/>
          </a:xfrm>
          <a:prstGeom prst="rect">
            <a:avLst/>
          </a:prstGeom>
        </p:spPr>
      </p:pic>
    </p:spTree>
    <p:extLst>
      <p:ext uri="{BB962C8B-B14F-4D97-AF65-F5344CB8AC3E}">
        <p14:creationId xmlns:p14="http://schemas.microsoft.com/office/powerpoint/2010/main" val="696509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40" name="Google Shape;40;p1"/>
          <p:cNvSpPr/>
          <p:nvPr/>
        </p:nvSpPr>
        <p:spPr>
          <a:xfrm>
            <a:off x="1699257" y="1138644"/>
            <a:ext cx="67485" cy="1472184"/>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Verdana"/>
              <a:buNone/>
              <a:tabLst/>
              <a:defRPr/>
            </a:pPr>
            <a:endParaRPr kumimoji="0" sz="1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41" name="Google Shape;41;p1"/>
          <p:cNvSpPr txBox="1"/>
          <p:nvPr/>
        </p:nvSpPr>
        <p:spPr>
          <a:xfrm>
            <a:off x="1916349" y="1138644"/>
            <a:ext cx="4112100" cy="180049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1100"/>
              <a:buFont typeface="Verdana"/>
              <a:buNone/>
              <a:tabLst/>
              <a:defRPr/>
            </a:pPr>
            <a:endParaRPr kumimoji="0" sz="1100" b="0"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1100" b="1" i="0" u="none" strike="noStrike" kern="1200" cap="none" spc="0" normalizeH="0" baseline="0" noProof="0" dirty="0">
                <a:ln>
                  <a:noFill/>
                </a:ln>
                <a:solidFill>
                  <a:srgbClr val="2B143D"/>
                </a:solidFill>
                <a:effectLst/>
                <a:uLnTx/>
                <a:uFillTx/>
                <a:latin typeface="Verdana"/>
                <a:ea typeface="Verdana"/>
                <a:cs typeface="Verdana"/>
                <a:sym typeface="Verdana"/>
              </a:rPr>
              <a:t>Business Excellence – Consultant</a:t>
            </a:r>
          </a:p>
          <a:p>
            <a:pPr marL="0" marR="0" lvl="0" indent="0" algn="l" defTabSz="914400" rtl="0" eaLnBrk="1" fontAlgn="auto" latinLnBrk="0" hangingPunct="1">
              <a:lnSpc>
                <a:spcPct val="100000"/>
              </a:lnSpc>
              <a:spcBef>
                <a:spcPts val="800"/>
              </a:spcBef>
              <a:spcAft>
                <a:spcPts val="0"/>
              </a:spcAft>
              <a:buClrTx/>
              <a:buSzTx/>
              <a:buFontTx/>
              <a:buNone/>
              <a:tabLst/>
              <a:defRPr/>
            </a:pPr>
            <a:r>
              <a:rPr lang="en-US" sz="1100" b="1" dirty="0">
                <a:solidFill>
                  <a:srgbClr val="2B143D"/>
                </a:solidFill>
                <a:latin typeface="Verdana"/>
                <a:ea typeface="Verdana"/>
                <a:cs typeface="Verdana"/>
                <a:sym typeface="Verdana"/>
              </a:rPr>
              <a:t>Primal Solutions</a:t>
            </a:r>
          </a:p>
          <a:p>
            <a:pPr marL="0" marR="0" lvl="0" indent="0" algn="l" defTabSz="914400" rtl="0" eaLnBrk="1" fontAlgn="auto" latinLnBrk="0" hangingPunct="1">
              <a:lnSpc>
                <a:spcPct val="100000"/>
              </a:lnSpc>
              <a:spcBef>
                <a:spcPts val="800"/>
              </a:spcBef>
              <a:spcAft>
                <a:spcPts val="0"/>
              </a:spcAft>
              <a:buClrTx/>
              <a:buSzTx/>
              <a:buFontTx/>
              <a:buNone/>
              <a:tabLst/>
              <a:defRPr/>
            </a:pPr>
            <a:r>
              <a:rPr lang="en-US" sz="1100" b="1" dirty="0">
                <a:solidFill>
                  <a:srgbClr val="2B143D"/>
                </a:solidFill>
                <a:latin typeface="Verdana"/>
                <a:ea typeface="Verdana"/>
                <a:cs typeface="Verdana"/>
                <a:sym typeface="Verdana"/>
              </a:rPr>
              <a:t>DGM Central Quality (</a:t>
            </a:r>
            <a:r>
              <a:rPr lang="en-US" sz="1100" b="1" dirty="0" err="1">
                <a:solidFill>
                  <a:srgbClr val="2B143D"/>
                </a:solidFill>
                <a:latin typeface="Verdana"/>
                <a:ea typeface="Verdana"/>
                <a:cs typeface="Verdana"/>
                <a:sym typeface="Verdana"/>
              </a:rPr>
              <a:t>Rtd</a:t>
            </a:r>
            <a:r>
              <a:rPr lang="en-US" sz="1100" b="1" dirty="0">
                <a:solidFill>
                  <a:srgbClr val="2B143D"/>
                </a:solidFill>
                <a:latin typeface="Verdana"/>
                <a:ea typeface="Verdana"/>
                <a:cs typeface="Verdana"/>
                <a:sym typeface="Verdana"/>
              </a:rPr>
              <a:t>.), Ashok Leyland</a:t>
            </a:r>
          </a:p>
          <a:p>
            <a:pPr marL="0" marR="0" lvl="0" indent="0" algn="l" defTabSz="914400" rtl="0" eaLnBrk="1" fontAlgn="auto" latinLnBrk="0" hangingPunct="1">
              <a:lnSpc>
                <a:spcPct val="100000"/>
              </a:lnSpc>
              <a:spcBef>
                <a:spcPts val="800"/>
              </a:spcBef>
              <a:spcAft>
                <a:spcPts val="0"/>
              </a:spcAft>
              <a:buClrTx/>
              <a:buSzTx/>
              <a:buFontTx/>
              <a:buNone/>
              <a:tabLst/>
              <a:defRPr/>
            </a:pPr>
            <a:r>
              <a:rPr lang="en-US" sz="1100" b="1" dirty="0">
                <a:solidFill>
                  <a:srgbClr val="2B143D"/>
                </a:solidFill>
                <a:latin typeface="Verdana"/>
                <a:ea typeface="Verdana"/>
                <a:cs typeface="Verdana"/>
                <a:sym typeface="Verdana"/>
              </a:rPr>
              <a:t>+91 98415 68728</a:t>
            </a:r>
          </a:p>
          <a:p>
            <a:pPr marL="0" marR="0" lvl="0" indent="0" algn="l" defTabSz="914400" rtl="0" eaLnBrk="1" fontAlgn="auto" latinLnBrk="0" hangingPunct="1">
              <a:lnSpc>
                <a:spcPct val="100000"/>
              </a:lnSpc>
              <a:spcBef>
                <a:spcPts val="800"/>
              </a:spcBef>
              <a:spcAft>
                <a:spcPts val="0"/>
              </a:spcAft>
              <a:buClrTx/>
              <a:buSzTx/>
              <a:buFontTx/>
              <a:buNone/>
              <a:tabLst/>
              <a:defRPr/>
            </a:pPr>
            <a:endParaRPr kumimoji="0" sz="1100" b="1"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0" marR="0" lvl="0" indent="0" algn="l" defTabSz="914400" rtl="0" eaLnBrk="1" fontAlgn="auto" latinLnBrk="0" hangingPunct="1">
              <a:lnSpc>
                <a:spcPct val="100000"/>
              </a:lnSpc>
              <a:spcBef>
                <a:spcPts val="800"/>
              </a:spcBef>
              <a:spcAft>
                <a:spcPts val="0"/>
              </a:spcAft>
              <a:buClr>
                <a:prstClr val="black"/>
              </a:buClr>
              <a:buSzPts val="1100"/>
              <a:buFont typeface="Verdana"/>
              <a:buNone/>
              <a:tabLst/>
              <a:defRPr/>
            </a:pPr>
            <a:endParaRPr kumimoji="0" sz="1100" b="0" i="0" u="none" strike="noStrike" kern="1200" cap="none" spc="0" normalizeH="0" baseline="0" noProof="0" dirty="0">
              <a:ln>
                <a:noFill/>
              </a:ln>
              <a:solidFill>
                <a:prstClr val="black"/>
              </a:solidFill>
              <a:effectLst/>
              <a:uLnTx/>
              <a:uFillTx/>
              <a:latin typeface="Verdana"/>
              <a:ea typeface="Verdana"/>
              <a:cs typeface="Verdana"/>
              <a:sym typeface="Verdana"/>
            </a:endParaRPr>
          </a:p>
        </p:txBody>
      </p:sp>
      <p:grpSp>
        <p:nvGrpSpPr>
          <p:cNvPr id="42" name="Google Shape;42;p1"/>
          <p:cNvGrpSpPr/>
          <p:nvPr/>
        </p:nvGrpSpPr>
        <p:grpSpPr>
          <a:xfrm>
            <a:off x="579033" y="4663423"/>
            <a:ext cx="4560315" cy="761747"/>
            <a:chOff x="468649" y="4446937"/>
            <a:chExt cx="4560315" cy="761747"/>
          </a:xfrm>
        </p:grpSpPr>
        <p:sp>
          <p:nvSpPr>
            <p:cNvPr id="43" name="Google Shape;43;p1"/>
            <p:cNvSpPr txBox="1"/>
            <p:nvPr/>
          </p:nvSpPr>
          <p:spPr>
            <a:xfrm>
              <a:off x="468649" y="4446937"/>
              <a:ext cx="2261851" cy="761747"/>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rPr>
                <a:t>Competencies</a:t>
              </a: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Painting Process</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Lean Six Sigma</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AIAG Core Tools  </a:t>
              </a:r>
            </a:p>
          </p:txBody>
        </p:sp>
        <p:sp>
          <p:nvSpPr>
            <p:cNvPr id="44" name="Google Shape;44;p1"/>
            <p:cNvSpPr txBox="1"/>
            <p:nvPr/>
          </p:nvSpPr>
          <p:spPr>
            <a:xfrm>
              <a:off x="2767113" y="4474243"/>
              <a:ext cx="2261851" cy="730969"/>
            </a:xfrm>
            <a:prstGeom prst="rect">
              <a:avLst/>
            </a:prstGeom>
            <a:noFill/>
            <a:ln>
              <a:noFill/>
            </a:ln>
          </p:spPr>
          <p:txBody>
            <a:bodyPr spcFirstLastPara="1" wrap="square" lIns="0" tIns="0" rIns="0" bIns="0" anchor="t" anchorCtr="0">
              <a:spAutoFit/>
            </a:bodyPr>
            <a:lstStyle/>
            <a:p>
              <a:pPr marL="171450" marR="0" lvl="1" indent="-107950" algn="l" defTabSz="914400" rtl="0" eaLnBrk="1" fontAlgn="auto" latinLnBrk="0" hangingPunct="1">
                <a:lnSpc>
                  <a:spcPct val="100000"/>
                </a:lnSpc>
                <a:spcBef>
                  <a:spcPts val="0"/>
                </a:spcBef>
                <a:spcAft>
                  <a:spcPts val="0"/>
                </a:spcAft>
                <a:buClr>
                  <a:srgbClr val="0070AD"/>
                </a:buClr>
                <a:buSzPts val="1000"/>
                <a:buFont typeface="Noto Sans Symbols"/>
                <a:buNone/>
                <a:tabLst/>
                <a:defRPr/>
              </a:pPr>
              <a:endParaRPr kumimoji="0" sz="1000" b="0"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srgbClr val="000000"/>
                  </a:solidFill>
                  <a:effectLst/>
                  <a:uLnTx/>
                  <a:uFillTx/>
                  <a:latin typeface="Verdana"/>
                  <a:ea typeface="Verdana"/>
                  <a:cs typeface="Verdana"/>
                  <a:sym typeface="Verdana"/>
                </a:rPr>
                <a:t>Manufacturing and Assembly</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srgbClr val="000000"/>
                  </a:solidFill>
                  <a:effectLst/>
                  <a:uLnTx/>
                  <a:uFillTx/>
                  <a:latin typeface="Verdana"/>
                  <a:ea typeface="Verdana"/>
                  <a:cs typeface="Verdana"/>
                  <a:sym typeface="Verdana"/>
                </a:rPr>
                <a:t>Quality Management Systems</a:t>
              </a:r>
              <a:endParaRPr kumimoji="0" sz="1000" b="0" i="0" u="none" strike="noStrike" kern="1200" cap="none" spc="0" normalizeH="0" baseline="0" noProof="0" dirty="0">
                <a:ln>
                  <a:noFill/>
                </a:ln>
                <a:solidFill>
                  <a:srgbClr val="000000"/>
                </a:solidFill>
                <a:effectLst/>
                <a:uLnTx/>
                <a:uFillTx/>
                <a:latin typeface="Verdana"/>
                <a:ea typeface="Verdana"/>
                <a:cs typeface="Verdana"/>
                <a:sym typeface="Verdana"/>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Coach &amp; mentor trainees</a:t>
              </a:r>
            </a:p>
          </p:txBody>
        </p:sp>
      </p:grpSp>
      <p:sp>
        <p:nvSpPr>
          <p:cNvPr id="45" name="Google Shape;45;p1"/>
          <p:cNvSpPr txBox="1"/>
          <p:nvPr/>
        </p:nvSpPr>
        <p:spPr>
          <a:xfrm>
            <a:off x="6804595" y="4663423"/>
            <a:ext cx="6570073" cy="1523494"/>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rPr>
              <a:t>Education Background</a:t>
            </a:r>
            <a:endParaRPr kumimoji="0" sz="1000" b="0" i="0" u="none" strike="noStrike" kern="1200" cap="none" spc="0" normalizeH="0" baseline="0" noProof="0" dirty="0">
              <a:ln>
                <a:noFill/>
              </a:ln>
              <a:solidFill>
                <a:srgbClr val="000000"/>
              </a:solidFill>
              <a:effectLst/>
              <a:uLnTx/>
              <a:uFillTx/>
              <a:latin typeface="Verdana"/>
              <a:ea typeface="Verdana"/>
              <a:cs typeface="Verdana"/>
              <a:sym typeface="Verdana"/>
            </a:endParaRPr>
          </a:p>
          <a:p>
            <a:pPr marL="171450" marR="0" lvl="1" indent="-171450" fontAlgn="auto">
              <a:lnSpc>
                <a:spcPct val="100000"/>
              </a:lnSpc>
              <a:spcBef>
                <a:spcPts val="300"/>
              </a:spcBef>
              <a:spcAft>
                <a:spcPts val="0"/>
              </a:spcAft>
              <a:buClr>
                <a:srgbClr val="0070AD"/>
              </a:buClr>
              <a:buSzPts val="1000"/>
              <a:buFont typeface="Noto Sans Symbols"/>
              <a:buChar char="▪"/>
              <a:tabLst/>
              <a:defRPr/>
            </a:pPr>
            <a:r>
              <a:rPr lang="en-US" sz="1000" dirty="0">
                <a:solidFill>
                  <a:srgbClr val="222222"/>
                </a:solidFill>
                <a:latin typeface="Verdana" panose="020B0604030504040204" pitchFamily="34" charset="0"/>
                <a:ea typeface="Verdana" panose="020B0604030504040204" pitchFamily="34" charset="0"/>
              </a:rPr>
              <a:t>Diploma in Mechanical Engineering - Central Polytechnic </a:t>
            </a:r>
          </a:p>
          <a:p>
            <a:pPr marL="171450" marR="0" lvl="1" indent="-171450" fontAlgn="auto">
              <a:lnSpc>
                <a:spcPct val="100000"/>
              </a:lnSpc>
              <a:spcBef>
                <a:spcPts val="300"/>
              </a:spcBef>
              <a:spcAft>
                <a:spcPts val="0"/>
              </a:spcAft>
              <a:buClr>
                <a:srgbClr val="0070AD"/>
              </a:buClr>
              <a:buSzPts val="1000"/>
              <a:buFont typeface="Noto Sans Symbols"/>
              <a:buChar char="▪"/>
              <a:tabLst/>
              <a:defRPr/>
            </a:pPr>
            <a:r>
              <a:rPr lang="en-US" sz="1000" dirty="0">
                <a:solidFill>
                  <a:srgbClr val="222222"/>
                </a:solidFill>
                <a:latin typeface="Verdana" panose="020B0604030504040204" pitchFamily="34" charset="0"/>
                <a:ea typeface="Verdana" panose="020B0604030504040204" pitchFamily="34" charset="0"/>
              </a:rPr>
              <a:t>BE Manufacturing  - College of Engineering - Guindy</a:t>
            </a:r>
            <a:endParaRPr lang="en-IN" sz="1000" dirty="0">
              <a:solidFill>
                <a:srgbClr val="222222"/>
              </a:solidFill>
              <a:latin typeface="Verdana" panose="020B0604030504040204" pitchFamily="34" charset="0"/>
              <a:ea typeface="Verdana" panose="020B0604030504040204" pitchFamily="34" charset="0"/>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endPar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0"/>
              </a:spcBef>
              <a:spcAft>
                <a:spcPts val="0"/>
              </a:spcAft>
              <a:buClr>
                <a:srgbClr val="0070AD"/>
              </a:buClr>
              <a:buSzPts val="1200"/>
              <a:buFontTx/>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mn-cs"/>
                <a:sym typeface="Verdana"/>
              </a:rPr>
              <a:t>Expertise </a:t>
            </a:r>
          </a:p>
          <a:p>
            <a:pPr marL="171450" lvl="1" indent="-171450">
              <a:spcBef>
                <a:spcPts val="300"/>
              </a:spcBef>
              <a:buClr>
                <a:srgbClr val="0070AD"/>
              </a:buClr>
              <a:buSzPts val="1000"/>
              <a:buFont typeface="Noto Sans Symbols"/>
              <a:buChar char="▪"/>
              <a:defRPr/>
            </a:pPr>
            <a:r>
              <a:rPr kumimoji="0" lang="en-US" sz="1000" b="0" i="0" u="none" strike="noStrike" kern="1200" cap="none" spc="0" normalizeH="0" baseline="0" noProof="0" dirty="0">
                <a:ln>
                  <a:noFill/>
                </a:ln>
                <a:solidFill>
                  <a:srgbClr val="222222"/>
                </a:solidFill>
                <a:effectLst/>
                <a:uLnTx/>
                <a:uFillTx/>
                <a:latin typeface="Calibri "/>
                <a:ea typeface="+mn-ea"/>
                <a:cs typeface="+mn-cs"/>
              </a:rPr>
              <a:t>T</a:t>
            </a:r>
            <a:r>
              <a:rPr lang="en-US" sz="1000" dirty="0">
                <a:solidFill>
                  <a:prstClr val="black"/>
                </a:solidFill>
                <a:latin typeface="Verdana"/>
                <a:ea typeface="Verdana"/>
              </a:rPr>
              <a:t>rained for Cellular Manufacturing system by CSC – Manufacturing</a:t>
            </a:r>
          </a:p>
          <a:p>
            <a:pPr marL="171450" lvl="1" indent="-171450">
              <a:spcBef>
                <a:spcPts val="300"/>
              </a:spcBef>
              <a:buClr>
                <a:srgbClr val="0070AD"/>
              </a:buClr>
              <a:buSzPts val="1000"/>
              <a:buFont typeface="Noto Sans Symbols"/>
              <a:buChar char="▪"/>
              <a:defRPr/>
            </a:pPr>
            <a:r>
              <a:rPr lang="en-US" sz="1000" dirty="0">
                <a:solidFill>
                  <a:prstClr val="black"/>
                </a:solidFill>
                <a:latin typeface="Verdana"/>
                <a:ea typeface="Verdana"/>
              </a:rPr>
              <a:t>Certified Lead Auditor in QMS &amp; Lean Six Sigma Green Belt</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endParaRPr kumimoji="0" sz="1000" b="0" i="0" u="none" strike="noStrike" kern="1200" cap="none" spc="0" normalizeH="0" baseline="0" noProof="0" dirty="0">
              <a:ln>
                <a:noFill/>
              </a:ln>
              <a:solidFill>
                <a:prstClr val="black"/>
              </a:solidFill>
              <a:effectLst/>
              <a:uLnTx/>
              <a:uFillTx/>
              <a:latin typeface="Verdana"/>
              <a:ea typeface="Verdana"/>
              <a:cs typeface="Verdana"/>
              <a:sym typeface="Verdana"/>
            </a:endParaRPr>
          </a:p>
        </p:txBody>
      </p:sp>
      <p:cxnSp>
        <p:nvCxnSpPr>
          <p:cNvPr id="46" name="Google Shape;46;p1"/>
          <p:cNvCxnSpPr/>
          <p:nvPr/>
        </p:nvCxnSpPr>
        <p:spPr>
          <a:xfrm>
            <a:off x="6629400" y="1138644"/>
            <a:ext cx="0" cy="4917380"/>
          </a:xfrm>
          <a:prstGeom prst="straightConnector1">
            <a:avLst/>
          </a:prstGeom>
          <a:noFill/>
          <a:ln w="19050" cap="flat" cmpd="sng">
            <a:solidFill>
              <a:schemeClr val="tx1"/>
            </a:solidFill>
            <a:prstDash val="solid"/>
            <a:miter lim="800000"/>
            <a:headEnd type="none" w="sm" len="sm"/>
            <a:tailEnd type="none" w="sm" len="sm"/>
          </a:ln>
        </p:spPr>
      </p:cxnSp>
      <p:sp>
        <p:nvSpPr>
          <p:cNvPr id="47" name="Google Shape;47;p1"/>
          <p:cNvSpPr txBox="1"/>
          <p:nvPr/>
        </p:nvSpPr>
        <p:spPr>
          <a:xfrm>
            <a:off x="579033" y="2588404"/>
            <a:ext cx="5567696" cy="1646605"/>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200"/>
              </a:spcBef>
              <a:spcAft>
                <a:spcPts val="0"/>
              </a:spcAft>
              <a:buClrTx/>
              <a:buSzTx/>
              <a:buFontTx/>
              <a:buNone/>
              <a:tabLst/>
              <a:defRPr/>
            </a:pPr>
            <a:endParaRPr kumimoji="0" sz="1000" b="1" i="0" u="none" strike="noStrike" kern="1200" cap="none" spc="0" normalizeH="0" baseline="0" noProof="0" dirty="0">
              <a:ln>
                <a:noFill/>
              </a:ln>
              <a:solidFill>
                <a:prstClr val="black"/>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200"/>
              </a:spcBef>
              <a:spcAft>
                <a:spcPts val="0"/>
              </a:spcAft>
              <a:buClrTx/>
              <a:buSzTx/>
              <a:buFontTx/>
              <a:buNone/>
              <a:tabLst/>
              <a:defRPr/>
            </a:pPr>
            <a:endParaRPr kumimoji="0" sz="1000" b="1" i="0" u="none" strike="noStrike" kern="1200" cap="none" spc="0" normalizeH="0" baseline="0" noProof="0" dirty="0">
              <a:ln>
                <a:noFill/>
              </a:ln>
              <a:solidFill>
                <a:prstClr val="black"/>
              </a:solidFill>
              <a:effectLst/>
              <a:uLnTx/>
              <a:uFillTx/>
              <a:latin typeface="Verdana"/>
              <a:ea typeface="Verdana"/>
              <a:cs typeface="Verdana"/>
              <a:sym typeface="Verdana"/>
            </a:endParaRP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
                <a:ea typeface="+mn-ea"/>
                <a:cs typeface="+mn-cs"/>
              </a:rPr>
              <a:t>35+ years of experience in working with SRP Tools, a Non-Standard Cutting Tool Manufacturer, SFL Autolec, Water, Oil &amp; Fuel Pump Manufacturer, and 19-year long tenure at Ashok Leyland.</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Inter"/>
                <a:ea typeface="+mn-ea"/>
                <a:cs typeface="+mn-cs"/>
              </a:rPr>
              <a:t>Expertise in Manufacturing, Assembly, Painting Process, Supplier Quality Function Strategy and formulation, and the utilization of Digital Quality, specifically PPAP Collaborative Space in PLM Platform</a:t>
            </a:r>
          </a:p>
        </p:txBody>
      </p:sp>
      <p:cxnSp>
        <p:nvCxnSpPr>
          <p:cNvPr id="48" name="Google Shape;48;p1"/>
          <p:cNvCxnSpPr>
            <a:cxnSpLocks/>
          </p:cNvCxnSpPr>
          <p:nvPr/>
        </p:nvCxnSpPr>
        <p:spPr>
          <a:xfrm>
            <a:off x="6926511" y="4368483"/>
            <a:ext cx="4765155" cy="0"/>
          </a:xfrm>
          <a:prstGeom prst="straightConnector1">
            <a:avLst/>
          </a:prstGeom>
          <a:noFill/>
          <a:ln w="19050" cap="flat" cmpd="sng">
            <a:solidFill>
              <a:schemeClr val="tx1"/>
            </a:solidFill>
            <a:prstDash val="solid"/>
            <a:miter lim="800000"/>
            <a:headEnd type="none" w="sm" len="sm"/>
            <a:tailEnd type="none" w="sm" len="sm"/>
          </a:ln>
        </p:spPr>
      </p:cxnSp>
      <p:cxnSp>
        <p:nvCxnSpPr>
          <p:cNvPr id="49" name="Google Shape;49;p1"/>
          <p:cNvCxnSpPr/>
          <p:nvPr/>
        </p:nvCxnSpPr>
        <p:spPr>
          <a:xfrm>
            <a:off x="579033" y="4370948"/>
            <a:ext cx="5627351" cy="0"/>
          </a:xfrm>
          <a:prstGeom prst="straightConnector1">
            <a:avLst/>
          </a:prstGeom>
          <a:noFill/>
          <a:ln w="19050" cap="flat" cmpd="sng">
            <a:solidFill>
              <a:schemeClr val="tx1"/>
            </a:solidFill>
            <a:prstDash val="solid"/>
            <a:miter lim="800000"/>
            <a:headEnd type="none" w="sm" len="sm"/>
            <a:tailEnd type="none" w="sm" len="sm"/>
          </a:ln>
        </p:spPr>
      </p:cxnSp>
      <p:sp>
        <p:nvSpPr>
          <p:cNvPr id="50" name="Google Shape;50;p1"/>
          <p:cNvSpPr txBox="1"/>
          <p:nvPr/>
        </p:nvSpPr>
        <p:spPr>
          <a:xfrm>
            <a:off x="6804595" y="1219188"/>
            <a:ext cx="5069448" cy="2257028"/>
          </a:xfrm>
          <a:prstGeom prst="rect">
            <a:avLst/>
          </a:prstGeom>
          <a:noFill/>
          <a:ln>
            <a:noFill/>
          </a:ln>
        </p:spPr>
        <p:txBody>
          <a:bodyPr spcFirstLastPara="1" wrap="square" lIns="0" tIns="0" rIns="0" bIns="0" anchor="t" anchorCtr="0">
            <a:spAutoFit/>
          </a:bodyPr>
          <a:lstStyle>
            <a:defPPr>
              <a:defRPr lang="en-US"/>
            </a:defPPr>
            <a:lvl1pPr marL="171450" marR="0" lvl="0" indent="-171450" algn="just" defTabSz="621792" fontAlgn="auto">
              <a:spcBef>
                <a:spcPts val="0"/>
              </a:spcBef>
              <a:spcAft>
                <a:spcPts val="680"/>
              </a:spcAft>
              <a:buClrTx/>
              <a:buSzTx/>
              <a:buFont typeface="Arial" panose="020B0604020202020204" pitchFamily="34" charset="0"/>
              <a:buChar char="•"/>
              <a:tabLst/>
              <a:defRPr kumimoji="0" sz="1200" b="0" i="0" u="none" strike="noStrike" cap="none" spc="0" normalizeH="0" baseline="0">
                <a:ln>
                  <a:noFill/>
                </a:ln>
                <a:solidFill>
                  <a:srgbClr val="222222"/>
                </a:solidFill>
                <a:effectLst/>
                <a:uLnTx/>
                <a:uFillTx/>
              </a:defRPr>
            </a:lvl1pPr>
            <a:lvl2pPr marL="0" marR="0" lvl="1" indent="0" fontAlgn="auto">
              <a:lnSpc>
                <a:spcPct val="100000"/>
              </a:lnSpc>
              <a:spcBef>
                <a:spcPts val="0"/>
              </a:spcBef>
              <a:spcAft>
                <a:spcPts val="0"/>
              </a:spcAft>
              <a:buClrTx/>
              <a:buSzTx/>
              <a:buFontTx/>
              <a:buNone/>
              <a:tabLst/>
              <a:defRPr kumimoji="0" sz="1200" b="1" i="0" u="none" strike="noStrike" cap="none" spc="0" normalizeH="0" baseline="0">
                <a:ln>
                  <a:noFill/>
                </a:ln>
                <a:solidFill>
                  <a:srgbClr val="0070AD"/>
                </a:solidFill>
                <a:effectLst/>
                <a:uLnTx/>
                <a:uFillTx/>
                <a:latin typeface="Verdana"/>
                <a:ea typeface="Verdana"/>
                <a:cs typeface="Verdana"/>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20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effectLst/>
                <a:uLnTx/>
                <a:uFillTx/>
                <a:latin typeface="Verdana"/>
                <a:ea typeface="Verdana"/>
                <a:cs typeface="Verdana"/>
                <a:sym typeface="Verdana"/>
              </a:rPr>
              <a:t>Professional Experience</a:t>
            </a:r>
          </a:p>
          <a:p>
            <a:pPr marL="0" marR="0" lvl="1" indent="0" algn="l" defTabSz="914400" rtl="0" eaLnBrk="1" fontAlgn="auto" latinLnBrk="0" hangingPunct="1">
              <a:lnSpc>
                <a:spcPct val="100000"/>
              </a:lnSpc>
              <a:spcBef>
                <a:spcPts val="200"/>
              </a:spcBef>
              <a:spcAft>
                <a:spcPts val="0"/>
              </a:spcAft>
              <a:buClr>
                <a:srgbClr val="0070AD"/>
              </a:buClr>
              <a:buSzPts val="1200"/>
              <a:buFont typeface="Verdana"/>
              <a:buNone/>
              <a:tabLst/>
              <a:defRPr/>
            </a:pPr>
            <a:endParaRPr kumimoji="0" lang="en-IN" sz="1200" b="1" i="0" u="none" strike="noStrike" kern="1200" cap="none" spc="0" normalizeH="0" baseline="0" noProof="0" dirty="0">
              <a:ln>
                <a:noFill/>
              </a:ln>
              <a:solidFill>
                <a:srgbClr val="0070AD"/>
              </a:solidFill>
              <a:effectLst/>
              <a:uLnTx/>
              <a:uFillTx/>
              <a:latin typeface="Verdana"/>
              <a:ea typeface="Verdana"/>
              <a:sym typeface="Verdana"/>
            </a:endParaRP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Engage with top management of manufacturing organizations on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goal setting, KPIs, Strategic plan creation</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 systems improvement, etc.</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
                <a:ea typeface="+mn-ea"/>
                <a:cs typeface="+mn-cs"/>
              </a:rPr>
              <a:t>Rich experience </a:t>
            </a:r>
            <a:r>
              <a:rPr kumimoji="0" lang="en-US" sz="1200" b="1" i="0" u="none" strike="noStrike" kern="1200" cap="none" spc="0" normalizeH="0" baseline="0" noProof="0" dirty="0">
                <a:ln>
                  <a:noFill/>
                </a:ln>
                <a:solidFill>
                  <a:srgbClr val="222222"/>
                </a:solidFill>
                <a:effectLst/>
                <a:uLnTx/>
                <a:uFillTx/>
                <a:latin typeface="Calibri "/>
                <a:ea typeface="+mn-ea"/>
                <a:cs typeface="+mn-cs"/>
              </a:rPr>
              <a:t>in TQM particularly Policy and Daily Management </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Extensive experience in providing training to individuals on the shop floor, focusing on good manufacturing practices, team building, and leadership skills.</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AIAG Core Tools </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(PPAP, APQP, Problem solving tools and OEMs assessment audit)</a:t>
            </a:r>
          </a:p>
        </p:txBody>
      </p:sp>
      <p:sp>
        <p:nvSpPr>
          <p:cNvPr id="5" name="TextBox 4">
            <a:extLst>
              <a:ext uri="{FF2B5EF4-FFF2-40B4-BE49-F238E27FC236}">
                <a16:creationId xmlns:a16="http://schemas.microsoft.com/office/drawing/2014/main" id="{7DEF0112-22D0-C3BD-8FDA-D9456111CDC2}"/>
              </a:ext>
            </a:extLst>
          </p:cNvPr>
          <p:cNvSpPr txBox="1"/>
          <p:nvPr/>
        </p:nvSpPr>
        <p:spPr>
          <a:xfrm>
            <a:off x="4447871" y="182123"/>
            <a:ext cx="11283519" cy="590931"/>
          </a:xfrm>
          <a:prstGeom prst="rect">
            <a:avLst/>
          </a:prstGeom>
          <a:noFill/>
        </p:spPr>
        <p:txBody>
          <a:bodyPr wrap="square">
            <a:spAutoFit/>
          </a:bodyPr>
          <a:lstStyle>
            <a:lvl1pPr>
              <a:lnSpc>
                <a:spcPct val="90000"/>
              </a:lnSpc>
              <a:spcBef>
                <a:spcPct val="0"/>
              </a:spcBef>
              <a:buClr>
                <a:srgbClr val="232323"/>
              </a:buClr>
              <a:buSzPts val="2600"/>
              <a:buNone/>
              <a:defRPr sz="4400" b="1">
                <a:ea typeface="+mj-ea"/>
                <a:cs typeface="+mj-cs"/>
              </a:defRPr>
            </a:lvl1pPr>
          </a:lstStyle>
          <a:p>
            <a:r>
              <a:rPr lang="en-US" sz="3600" dirty="0">
                <a:latin typeface="Calibri "/>
              </a:rPr>
              <a:t>T.R</a:t>
            </a:r>
            <a:r>
              <a:rPr lang="en-IN" sz="3600" dirty="0">
                <a:latin typeface="Calibri "/>
              </a:rPr>
              <a:t> </a:t>
            </a:r>
            <a:r>
              <a:rPr lang="en-US" sz="3600" dirty="0" err="1">
                <a:latin typeface="Calibri "/>
              </a:rPr>
              <a:t>Renukanthan</a:t>
            </a:r>
            <a:endParaRPr lang="en-IN" sz="3600" dirty="0">
              <a:latin typeface="Calibri "/>
            </a:endParaRPr>
          </a:p>
        </p:txBody>
      </p:sp>
      <p:pic>
        <p:nvPicPr>
          <p:cNvPr id="2" name="Picture 1">
            <a:extLst>
              <a:ext uri="{FF2B5EF4-FFF2-40B4-BE49-F238E27FC236}">
                <a16:creationId xmlns:a16="http://schemas.microsoft.com/office/drawing/2014/main" id="{07CC6B5E-2B1F-40DF-FE0F-2F5F3F1846D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07" b="94322" l="4944" r="91461">
                        <a14:foregroundMark x1="36404" y1="72161" x2="14607" y2="84982"/>
                        <a14:foregroundMark x1="4944" y1="75275" x2="9213" y2="91575"/>
                        <a14:foregroundMark x1="76404" y1="71245" x2="91685" y2="91575"/>
                        <a14:foregroundMark x1="68315" y1="94322" x2="16854" y2="93407"/>
                        <a14:foregroundMark x1="49438" y1="9890" x2="63371" y2="10806"/>
                      </a14:backgroundRemoval>
                    </a14:imgEffect>
                  </a14:imgLayer>
                </a14:imgProps>
              </a:ext>
            </a:extLst>
          </a:blip>
          <a:stretch>
            <a:fillRect/>
          </a:stretch>
        </p:blipFill>
        <p:spPr>
          <a:xfrm>
            <a:off x="534372" y="1219188"/>
            <a:ext cx="1037349" cy="1297485"/>
          </a:xfrm>
          <a:prstGeom prst="rect">
            <a:avLst/>
          </a:prstGeom>
        </p:spPr>
      </p:pic>
      <p:cxnSp>
        <p:nvCxnSpPr>
          <p:cNvPr id="3" name="Straight Connector 2">
            <a:extLst>
              <a:ext uri="{FF2B5EF4-FFF2-40B4-BE49-F238E27FC236}">
                <a16:creationId xmlns:a16="http://schemas.microsoft.com/office/drawing/2014/main" id="{CCFEE8F7-2567-1C43-BA3E-352F43521B28}"/>
              </a:ext>
            </a:extLst>
          </p:cNvPr>
          <p:cNvCxnSpPr>
            <a:cxnSpLocks/>
          </p:cNvCxnSpPr>
          <p:nvPr/>
        </p:nvCxnSpPr>
        <p:spPr>
          <a:xfrm>
            <a:off x="394830" y="949468"/>
            <a:ext cx="11456768" cy="0"/>
          </a:xfrm>
          <a:prstGeom prst="line">
            <a:avLst/>
          </a:prstGeom>
          <a:ln w="2857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FF3945A-54BF-30ED-5D9F-ADC5A63C74D9}"/>
              </a:ext>
            </a:extLst>
          </p:cNvPr>
          <p:cNvPicPr>
            <a:picLocks noChangeAspect="1"/>
          </p:cNvPicPr>
          <p:nvPr/>
        </p:nvPicPr>
        <p:blipFill>
          <a:blip r:embed="rId5"/>
          <a:stretch>
            <a:fillRect/>
          </a:stretch>
        </p:blipFill>
        <p:spPr>
          <a:xfrm>
            <a:off x="9287399" y="198715"/>
            <a:ext cx="2586644" cy="480764"/>
          </a:xfrm>
          <a:prstGeom prst="rect">
            <a:avLst/>
          </a:prstGeom>
        </p:spPr>
      </p:pic>
    </p:spTree>
    <p:extLst>
      <p:ext uri="{BB962C8B-B14F-4D97-AF65-F5344CB8AC3E}">
        <p14:creationId xmlns:p14="http://schemas.microsoft.com/office/powerpoint/2010/main" val="1603564496"/>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40" name="Google Shape;40;p1"/>
          <p:cNvSpPr/>
          <p:nvPr/>
        </p:nvSpPr>
        <p:spPr>
          <a:xfrm>
            <a:off x="1856013" y="1080928"/>
            <a:ext cx="67485" cy="1472184"/>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Verdana"/>
              <a:buNone/>
              <a:tabLst/>
              <a:defRPr/>
            </a:pPr>
            <a:endParaRPr kumimoji="0" sz="1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41" name="Google Shape;41;p1"/>
          <p:cNvSpPr txBox="1"/>
          <p:nvPr/>
        </p:nvSpPr>
        <p:spPr>
          <a:xfrm>
            <a:off x="2103816" y="1401858"/>
            <a:ext cx="4112100" cy="1359346"/>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US" sz="1100" b="1" i="0" u="none" strike="noStrike" kern="1200" cap="none" spc="0" normalizeH="0" baseline="0" noProof="0" dirty="0">
                <a:ln>
                  <a:noFill/>
                </a:ln>
                <a:solidFill>
                  <a:srgbClr val="2B143D"/>
                </a:solidFill>
                <a:effectLst/>
                <a:uLnTx/>
                <a:uFillTx/>
                <a:latin typeface="Verdana"/>
                <a:ea typeface="Verdana"/>
                <a:cs typeface="Verdana"/>
                <a:sym typeface="Verdana"/>
              </a:rPr>
              <a:t>Business Consultant</a:t>
            </a:r>
            <a:endParaRPr kumimoji="0" sz="1100" b="1" i="0" u="none" strike="noStrike" kern="1200" cap="none" spc="0" normalizeH="0" baseline="0" noProof="0" dirty="0">
              <a:ln>
                <a:noFill/>
              </a:ln>
              <a:solidFill>
                <a:srgbClr val="2B143D"/>
              </a:solidFill>
              <a:effectLst/>
              <a:uLnTx/>
              <a:uFillTx/>
              <a:latin typeface="Verdana"/>
              <a:ea typeface="Verdana"/>
              <a:cs typeface="Verdana"/>
              <a:sym typeface="Verdana"/>
            </a:endParaRPr>
          </a:p>
          <a:p>
            <a:pPr lvl="0">
              <a:spcBef>
                <a:spcPts val="800"/>
              </a:spcBef>
              <a:defRPr/>
            </a:pPr>
            <a:r>
              <a:rPr lang="en-US" sz="1100" b="1" dirty="0">
                <a:solidFill>
                  <a:srgbClr val="2B143D"/>
                </a:solidFill>
                <a:latin typeface="Verdana"/>
                <a:ea typeface="Verdana"/>
                <a:cs typeface="Verdana"/>
                <a:sym typeface="Verdana"/>
              </a:rPr>
              <a:t>Primal Solutions</a:t>
            </a:r>
          </a:p>
          <a:p>
            <a:pPr lvl="0">
              <a:spcBef>
                <a:spcPts val="800"/>
              </a:spcBef>
              <a:defRPr/>
            </a:pPr>
            <a:r>
              <a:rPr lang="en-US" sz="1100" b="1" dirty="0">
                <a:solidFill>
                  <a:srgbClr val="2B143D"/>
                </a:solidFill>
                <a:latin typeface="Verdana"/>
                <a:ea typeface="Verdana"/>
                <a:cs typeface="Verdana"/>
                <a:sym typeface="Verdana"/>
              </a:rPr>
              <a:t>+91 90030 71320</a:t>
            </a:r>
          </a:p>
          <a:p>
            <a:pPr lvl="0">
              <a:spcBef>
                <a:spcPts val="800"/>
              </a:spcBef>
              <a:defRPr/>
            </a:pPr>
            <a:endParaRPr lang="en-US" sz="1100" b="1" dirty="0">
              <a:solidFill>
                <a:srgbClr val="2B143D"/>
              </a:solidFill>
              <a:latin typeface="Verdana"/>
              <a:ea typeface="Verdana"/>
              <a:cs typeface="Verdana"/>
              <a:sym typeface="Verdana"/>
            </a:endParaRPr>
          </a:p>
          <a:p>
            <a:pPr lvl="0">
              <a:spcBef>
                <a:spcPts val="800"/>
              </a:spcBef>
              <a:defRPr/>
            </a:pPr>
            <a:endParaRPr lang="en-US" sz="1100" b="1" dirty="0">
              <a:solidFill>
                <a:srgbClr val="2B143D"/>
              </a:solidFill>
              <a:latin typeface="Verdana"/>
              <a:ea typeface="Verdana"/>
              <a:cs typeface="Verdana"/>
              <a:sym typeface="Verdana"/>
            </a:endParaRPr>
          </a:p>
        </p:txBody>
      </p:sp>
      <p:grpSp>
        <p:nvGrpSpPr>
          <p:cNvPr id="42" name="Google Shape;42;p1"/>
          <p:cNvGrpSpPr/>
          <p:nvPr/>
        </p:nvGrpSpPr>
        <p:grpSpPr>
          <a:xfrm>
            <a:off x="589666" y="5054558"/>
            <a:ext cx="4560315" cy="569387"/>
            <a:chOff x="468649" y="4446937"/>
            <a:chExt cx="4560315" cy="569387"/>
          </a:xfrm>
        </p:grpSpPr>
        <p:sp>
          <p:nvSpPr>
            <p:cNvPr id="43" name="Google Shape;43;p1"/>
            <p:cNvSpPr txBox="1"/>
            <p:nvPr/>
          </p:nvSpPr>
          <p:spPr>
            <a:xfrm>
              <a:off x="468649" y="4446937"/>
              <a:ext cx="2261851" cy="569387"/>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rPr>
                <a:t>Competencies</a:t>
              </a: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Lean Six Sigma</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AIAG Core Tools  </a:t>
              </a:r>
            </a:p>
          </p:txBody>
        </p:sp>
        <p:sp>
          <p:nvSpPr>
            <p:cNvPr id="44" name="Google Shape;44;p1"/>
            <p:cNvSpPr txBox="1"/>
            <p:nvPr/>
          </p:nvSpPr>
          <p:spPr>
            <a:xfrm>
              <a:off x="2767113" y="4474243"/>
              <a:ext cx="2261851" cy="538609"/>
            </a:xfrm>
            <a:prstGeom prst="rect">
              <a:avLst/>
            </a:prstGeom>
            <a:noFill/>
            <a:ln>
              <a:noFill/>
            </a:ln>
          </p:spPr>
          <p:txBody>
            <a:bodyPr spcFirstLastPara="1" wrap="square" lIns="0" tIns="0" rIns="0" bIns="0" anchor="t" anchorCtr="0">
              <a:spAutoFit/>
            </a:bodyPr>
            <a:lstStyle/>
            <a:p>
              <a:pPr marL="171450" marR="0" lvl="1" indent="-107950" algn="l" defTabSz="914400" rtl="0" eaLnBrk="1" fontAlgn="auto" latinLnBrk="0" hangingPunct="1">
                <a:lnSpc>
                  <a:spcPct val="100000"/>
                </a:lnSpc>
                <a:spcBef>
                  <a:spcPts val="0"/>
                </a:spcBef>
                <a:spcAft>
                  <a:spcPts val="0"/>
                </a:spcAft>
                <a:buClr>
                  <a:srgbClr val="0070AD"/>
                </a:buClr>
                <a:buSzPts val="1000"/>
                <a:buFont typeface="Noto Sans Symbols"/>
                <a:buNone/>
                <a:tabLst/>
                <a:defRPr/>
              </a:pPr>
              <a:endParaRPr kumimoji="0" sz="1000" b="0"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srgbClr val="000000"/>
                  </a:solidFill>
                  <a:effectLst/>
                  <a:uLnTx/>
                  <a:uFillTx/>
                  <a:latin typeface="Verdana"/>
                  <a:ea typeface="Verdana"/>
                  <a:cs typeface="Verdana"/>
                  <a:sym typeface="Verdana"/>
                </a:rPr>
                <a:t>Quality Management Systems</a:t>
              </a:r>
              <a:endParaRPr kumimoji="0" sz="1000" b="0" i="0" u="none" strike="noStrike" kern="1200" cap="none" spc="0" normalizeH="0" baseline="0" noProof="0" dirty="0">
                <a:ln>
                  <a:noFill/>
                </a:ln>
                <a:solidFill>
                  <a:srgbClr val="000000"/>
                </a:solidFill>
                <a:effectLst/>
                <a:uLnTx/>
                <a:uFillTx/>
                <a:latin typeface="Verdana"/>
                <a:ea typeface="Verdana"/>
                <a:cs typeface="Verdana"/>
                <a:sym typeface="Verdana"/>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Coach &amp; mentor trainees</a:t>
              </a:r>
            </a:p>
          </p:txBody>
        </p:sp>
      </p:grpSp>
      <p:sp>
        <p:nvSpPr>
          <p:cNvPr id="45" name="Google Shape;45;p1"/>
          <p:cNvSpPr txBox="1"/>
          <p:nvPr/>
        </p:nvSpPr>
        <p:spPr>
          <a:xfrm>
            <a:off x="6804591" y="5054558"/>
            <a:ext cx="6570073" cy="1338828"/>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0"/>
              </a:spcBef>
              <a:spcAft>
                <a:spcPts val="0"/>
              </a:spcAft>
              <a:buClr>
                <a:srgbClr val="0070AD"/>
              </a:buClr>
              <a:buSzPts val="1200"/>
              <a:buFontTx/>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mn-cs"/>
                <a:sym typeface="Verdana"/>
              </a:rPr>
              <a:t>Expertise </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US" sz="1000" b="0" i="0" u="none" strike="noStrike" kern="1200" cap="none" spc="0" normalizeH="0" baseline="0" noProof="0" dirty="0">
                <a:ln>
                  <a:noFill/>
                </a:ln>
                <a:solidFill>
                  <a:prstClr val="black"/>
                </a:solidFill>
                <a:effectLst/>
                <a:uLnTx/>
                <a:uFillTx/>
                <a:latin typeface="Verdana"/>
                <a:ea typeface="Verdana"/>
                <a:cs typeface="+mn-cs"/>
              </a:rPr>
              <a:t>SCM-Exe from CII (Confederation of Indian Industry).</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mn-cs"/>
              </a:rPr>
              <a:t>Certified ISO 9001:2015 Lead Auditor Course (TUV SUD)</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mn-cs"/>
              </a:rPr>
              <a:t>Total Quality Management at MSME Development Institute, Chennai.</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mn-cs"/>
              </a:rPr>
              <a:t>Contemporary Shop Floor Management at NIQR, Mahindra Institute of Quality.</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lang="en-IN" sz="1000" dirty="0">
                <a:solidFill>
                  <a:prstClr val="black"/>
                </a:solidFill>
                <a:latin typeface="Verdana"/>
                <a:ea typeface="Verdana"/>
              </a:rPr>
              <a:t>Operational Excellence Course for COO &amp; Young Leaders at NIQR. </a:t>
            </a:r>
            <a:endParaRPr kumimoji="0" lang="en-IN" sz="1000" b="0" i="0" u="none" strike="noStrike" kern="1200" cap="none" spc="0" normalizeH="0" baseline="0" noProof="0" dirty="0">
              <a:ln>
                <a:noFill/>
              </a:ln>
              <a:solidFill>
                <a:prstClr val="black"/>
              </a:solidFill>
              <a:effectLst/>
              <a:uLnTx/>
              <a:uFillTx/>
              <a:latin typeface="Verdana"/>
              <a:ea typeface="Verdana"/>
              <a:cs typeface="+mn-cs"/>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endParaRPr kumimoji="0" sz="1000" b="0" i="0" u="none" strike="noStrike" kern="1200" cap="none" spc="0" normalizeH="0" baseline="0" noProof="0" dirty="0">
              <a:ln>
                <a:noFill/>
              </a:ln>
              <a:solidFill>
                <a:prstClr val="black"/>
              </a:solidFill>
              <a:effectLst/>
              <a:uLnTx/>
              <a:uFillTx/>
              <a:latin typeface="Verdana"/>
              <a:ea typeface="Verdana"/>
              <a:cs typeface="Verdana"/>
              <a:sym typeface="Verdana"/>
            </a:endParaRPr>
          </a:p>
        </p:txBody>
      </p:sp>
      <p:cxnSp>
        <p:nvCxnSpPr>
          <p:cNvPr id="46" name="Google Shape;46;p1"/>
          <p:cNvCxnSpPr/>
          <p:nvPr/>
        </p:nvCxnSpPr>
        <p:spPr>
          <a:xfrm>
            <a:off x="6544336" y="1115257"/>
            <a:ext cx="0" cy="4917380"/>
          </a:xfrm>
          <a:prstGeom prst="straightConnector1">
            <a:avLst/>
          </a:prstGeom>
          <a:noFill/>
          <a:ln w="19050" cap="flat" cmpd="sng">
            <a:solidFill>
              <a:schemeClr val="tx1"/>
            </a:solidFill>
            <a:prstDash val="solid"/>
            <a:miter lim="800000"/>
            <a:headEnd type="none" w="sm" len="sm"/>
            <a:tailEnd type="none" w="sm" len="sm"/>
          </a:ln>
        </p:spPr>
      </p:cxnSp>
      <p:sp>
        <p:nvSpPr>
          <p:cNvPr id="47" name="Google Shape;47;p1"/>
          <p:cNvSpPr txBox="1"/>
          <p:nvPr/>
        </p:nvSpPr>
        <p:spPr>
          <a:xfrm>
            <a:off x="579033" y="2405522"/>
            <a:ext cx="5567696" cy="2290371"/>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200"/>
              </a:spcBef>
              <a:spcAft>
                <a:spcPts val="0"/>
              </a:spcAft>
              <a:buClrTx/>
              <a:buSzTx/>
              <a:buFontTx/>
              <a:buNone/>
              <a:tabLst/>
              <a:defRPr/>
            </a:pPr>
            <a:endParaRPr kumimoji="0" sz="1000" b="1" i="0" u="none" strike="noStrike" kern="1200" cap="none" spc="0" normalizeH="0" baseline="0" noProof="0" dirty="0">
              <a:ln>
                <a:noFill/>
              </a:ln>
              <a:solidFill>
                <a:prstClr val="black"/>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200"/>
              </a:spcBef>
              <a:spcAft>
                <a:spcPts val="0"/>
              </a:spcAft>
              <a:buClrTx/>
              <a:buSzTx/>
              <a:buFontTx/>
              <a:buNone/>
              <a:tabLst/>
              <a:defRPr/>
            </a:pPr>
            <a:endParaRPr kumimoji="0" sz="1000" b="1" i="0" u="none" strike="noStrike" kern="1200" cap="none" spc="0" normalizeH="0" baseline="0" noProof="0" dirty="0">
              <a:ln>
                <a:noFill/>
              </a:ln>
              <a:solidFill>
                <a:prstClr val="black"/>
              </a:solidFill>
              <a:effectLst/>
              <a:uLnTx/>
              <a:uFillTx/>
              <a:latin typeface="Verdana"/>
              <a:ea typeface="Verdana"/>
              <a:cs typeface="Verdana"/>
              <a:sym typeface="Verdana"/>
            </a:endParaRP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Over a decade of experience in Quality Engineering, Quality system management, Problem solving technique, Product development, Operational improvement, Continual improvement, Supplier audit system.</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Comprehension of the needs of prominent OEMs such as Ashok Leyland, TAFE, PSA, and other automotive suppliers to enhance their suppliers' capacities, quality assurance processes, NPD methodologies, and overall quality strategy</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Extensive experience in sheet metal and fabrication, specializing in press shop operations and welding. Proficient in tool design, Poka yoke implementation, tool management, and resolving quality issues.</a:t>
            </a:r>
            <a:endParaRPr kumimoji="0" sz="1000" b="0" i="0" u="none" strike="noStrike" kern="1200" cap="none" spc="0" normalizeH="0" baseline="0" noProof="0" dirty="0">
              <a:ln>
                <a:noFill/>
              </a:ln>
              <a:solidFill>
                <a:srgbClr val="000000"/>
              </a:solidFill>
              <a:effectLst/>
              <a:uLnTx/>
              <a:uFillTx/>
              <a:latin typeface="Verdana"/>
              <a:ea typeface="Verdana"/>
              <a:cs typeface="Verdana"/>
              <a:sym typeface="Verdana"/>
            </a:endParaRPr>
          </a:p>
        </p:txBody>
      </p:sp>
      <p:cxnSp>
        <p:nvCxnSpPr>
          <p:cNvPr id="48" name="Google Shape;48;p1"/>
          <p:cNvCxnSpPr>
            <a:cxnSpLocks/>
          </p:cNvCxnSpPr>
          <p:nvPr/>
        </p:nvCxnSpPr>
        <p:spPr>
          <a:xfrm>
            <a:off x="6867127" y="4864447"/>
            <a:ext cx="4765155" cy="0"/>
          </a:xfrm>
          <a:prstGeom prst="straightConnector1">
            <a:avLst/>
          </a:prstGeom>
          <a:noFill/>
          <a:ln w="19050" cap="flat" cmpd="sng">
            <a:solidFill>
              <a:schemeClr val="tx1"/>
            </a:solidFill>
            <a:prstDash val="solid"/>
            <a:miter lim="800000"/>
            <a:headEnd type="none" w="sm" len="sm"/>
            <a:tailEnd type="none" w="sm" len="sm"/>
          </a:ln>
        </p:spPr>
      </p:cxnSp>
      <p:cxnSp>
        <p:nvCxnSpPr>
          <p:cNvPr id="49" name="Google Shape;49;p1"/>
          <p:cNvCxnSpPr/>
          <p:nvPr/>
        </p:nvCxnSpPr>
        <p:spPr>
          <a:xfrm>
            <a:off x="589666" y="4864447"/>
            <a:ext cx="5627351" cy="0"/>
          </a:xfrm>
          <a:prstGeom prst="straightConnector1">
            <a:avLst/>
          </a:prstGeom>
          <a:noFill/>
          <a:ln w="19050" cap="flat" cmpd="sng">
            <a:solidFill>
              <a:schemeClr val="tx1"/>
            </a:solidFill>
            <a:prstDash val="solid"/>
            <a:miter lim="800000"/>
            <a:headEnd type="none" w="sm" len="sm"/>
            <a:tailEnd type="none" w="sm" len="sm"/>
          </a:ln>
        </p:spPr>
      </p:cxnSp>
      <p:sp>
        <p:nvSpPr>
          <p:cNvPr id="50" name="Google Shape;50;p1"/>
          <p:cNvSpPr txBox="1"/>
          <p:nvPr/>
        </p:nvSpPr>
        <p:spPr>
          <a:xfrm>
            <a:off x="6859608" y="1218524"/>
            <a:ext cx="5069448" cy="3175228"/>
          </a:xfrm>
          <a:prstGeom prst="rect">
            <a:avLst/>
          </a:prstGeom>
          <a:noFill/>
          <a:ln>
            <a:noFill/>
          </a:ln>
        </p:spPr>
        <p:txBody>
          <a:bodyPr spcFirstLastPara="1" wrap="square" lIns="0" tIns="0" rIns="0" bIns="0" anchor="t" anchorCtr="0">
            <a:spAutoFit/>
          </a:bodyPr>
          <a:lstStyle>
            <a:defPPr>
              <a:defRPr lang="en-US"/>
            </a:defPPr>
            <a:lvl1pPr marL="171450" marR="0" lvl="0" indent="-171450" algn="just" defTabSz="621792" fontAlgn="auto">
              <a:spcBef>
                <a:spcPts val="0"/>
              </a:spcBef>
              <a:spcAft>
                <a:spcPts val="680"/>
              </a:spcAft>
              <a:buClrTx/>
              <a:buSzTx/>
              <a:buFont typeface="Arial" panose="020B0604020202020204" pitchFamily="34" charset="0"/>
              <a:buChar char="•"/>
              <a:tabLst/>
              <a:defRPr kumimoji="0" sz="1200" b="0" i="0" u="none" strike="noStrike" cap="none" spc="0" normalizeH="0" baseline="0">
                <a:ln>
                  <a:noFill/>
                </a:ln>
                <a:solidFill>
                  <a:srgbClr val="222222"/>
                </a:solidFill>
                <a:effectLst/>
                <a:uLnTx/>
                <a:uFillTx/>
              </a:defRPr>
            </a:lvl1pPr>
            <a:lvl2pPr marL="0" marR="0" lvl="1" indent="0" fontAlgn="auto">
              <a:lnSpc>
                <a:spcPct val="100000"/>
              </a:lnSpc>
              <a:spcBef>
                <a:spcPts val="0"/>
              </a:spcBef>
              <a:spcAft>
                <a:spcPts val="0"/>
              </a:spcAft>
              <a:buClrTx/>
              <a:buSzTx/>
              <a:buFontTx/>
              <a:buNone/>
              <a:tabLst/>
              <a:defRPr kumimoji="0" sz="1200" b="1" i="0" u="none" strike="noStrike" cap="none" spc="0" normalizeH="0" baseline="0">
                <a:ln>
                  <a:noFill/>
                </a:ln>
                <a:solidFill>
                  <a:srgbClr val="0070AD"/>
                </a:solidFill>
                <a:effectLst/>
                <a:uLnTx/>
                <a:uFillTx/>
                <a:latin typeface="Verdana"/>
                <a:ea typeface="Verdana"/>
                <a:cs typeface="Verdana"/>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20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rPr>
              <a:t>Professional Experience</a:t>
            </a:r>
          </a:p>
          <a:p>
            <a:pPr marL="0" marR="0" lvl="1" indent="0" algn="l" defTabSz="914400" rtl="0" eaLnBrk="1" fontAlgn="auto" latinLnBrk="0" hangingPunct="1">
              <a:lnSpc>
                <a:spcPct val="100000"/>
              </a:lnSpc>
              <a:spcBef>
                <a:spcPts val="200"/>
              </a:spcBef>
              <a:spcAft>
                <a:spcPts val="0"/>
              </a:spcAft>
              <a:buClr>
                <a:srgbClr val="0070AD"/>
              </a:buClr>
              <a:buSzPts val="1200"/>
              <a:buFont typeface="Verdana"/>
              <a:buNone/>
              <a:tabLst/>
              <a:defRPr/>
            </a:pPr>
            <a:endParaRPr kumimoji="0" lang="en-IN" sz="1200" b="1" i="0" u="none" strike="noStrike" kern="1200" cap="none" spc="0" normalizeH="0" baseline="0" noProof="0" dirty="0">
              <a:ln>
                <a:noFill/>
              </a:ln>
              <a:solidFill>
                <a:srgbClr val="0070AD"/>
              </a:solidFill>
              <a:effectLst/>
              <a:uLnTx/>
              <a:uFillTx/>
              <a:latin typeface="Verdana"/>
              <a:ea typeface="Verdana"/>
              <a:sym typeface="Verdana"/>
            </a:endParaRPr>
          </a:p>
          <a:p>
            <a:pPr marL="171450" marR="0" lvl="1"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Verdana"/>
                <a:cs typeface="+mn-cs"/>
              </a:rPr>
              <a:t>Implement turnkey projects at manufacturing MSMEs on quality, </a:t>
            </a:r>
            <a:r>
              <a:rPr kumimoji="0" lang="en-US" sz="1200" b="1" i="0" u="none" strike="noStrike" kern="1200" cap="none" spc="0" normalizeH="0" baseline="0" noProof="0" dirty="0">
                <a:ln>
                  <a:noFill/>
                </a:ln>
                <a:solidFill>
                  <a:srgbClr val="222222"/>
                </a:solidFill>
                <a:effectLst/>
                <a:uLnTx/>
                <a:uFillTx/>
                <a:latin typeface="Calibri" panose="020F0502020204030204"/>
                <a:ea typeface="Verdana"/>
                <a:cs typeface="+mn-cs"/>
              </a:rPr>
              <a:t>continuous Improvement &amp; profitability turnaround.</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Engage with top management of manufacturing organizations on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goal setting, Business plan, Strategic plan &amp; KPIs creation</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 systems improvement, etc.</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Implemented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Lean manufacturing practices in over 75 MSME units </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across commodities and industries. </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lang="en-US" dirty="0">
                <a:latin typeface="Calibri" panose="020F0502020204030204"/>
              </a:rPr>
              <a:t>Worked with </a:t>
            </a:r>
            <a:r>
              <a:rPr lang="en-US" b="1" dirty="0">
                <a:latin typeface="Calibri" panose="020F0502020204030204"/>
              </a:rPr>
              <a:t>MSME-Lean Cluster through LMCS </a:t>
            </a:r>
            <a:endPar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endParaRP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Helped Tier-1 manufacturing companies to set up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a greenfield production and assembly line</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 for their Japanese OEM clients.</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Trained over 500+ Engineers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in AIAG Core Tools </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(PPAP, APQP, Problem solving tools and OEMs assessment audit)</a:t>
            </a:r>
          </a:p>
        </p:txBody>
      </p:sp>
      <p:pic>
        <p:nvPicPr>
          <p:cNvPr id="7" name="Picture 6">
            <a:extLst>
              <a:ext uri="{FF2B5EF4-FFF2-40B4-BE49-F238E27FC236}">
                <a16:creationId xmlns:a16="http://schemas.microsoft.com/office/drawing/2014/main" id="{FEEBAE46-6604-88EE-5149-057565AF545B}"/>
              </a:ext>
            </a:extLst>
          </p:cNvPr>
          <p:cNvPicPr>
            <a:picLocks noChangeAspect="1"/>
          </p:cNvPicPr>
          <p:nvPr/>
        </p:nvPicPr>
        <p:blipFill>
          <a:blip r:embed="rId3"/>
          <a:stretch>
            <a:fillRect/>
          </a:stretch>
        </p:blipFill>
        <p:spPr>
          <a:xfrm>
            <a:off x="633341" y="1080927"/>
            <a:ext cx="1123245" cy="1458839"/>
          </a:xfrm>
          <a:prstGeom prst="rect">
            <a:avLst/>
          </a:prstGeom>
        </p:spPr>
      </p:pic>
      <p:sp>
        <p:nvSpPr>
          <p:cNvPr id="3" name="TextBox 2">
            <a:extLst>
              <a:ext uri="{FF2B5EF4-FFF2-40B4-BE49-F238E27FC236}">
                <a16:creationId xmlns:a16="http://schemas.microsoft.com/office/drawing/2014/main" id="{B51C6EBD-DA0B-C925-CD67-3FE1D7479478}"/>
              </a:ext>
            </a:extLst>
          </p:cNvPr>
          <p:cNvSpPr txBox="1"/>
          <p:nvPr/>
        </p:nvSpPr>
        <p:spPr>
          <a:xfrm>
            <a:off x="467545" y="5828572"/>
            <a:ext cx="6701882" cy="469359"/>
          </a:xfrm>
          <a:prstGeom prst="rect">
            <a:avLst/>
          </a:prstGeom>
          <a:noFill/>
        </p:spPr>
        <p:txBody>
          <a:bodyPr wrap="square">
            <a:spAutoFit/>
          </a:bodyPr>
          <a:lstStyle/>
          <a:p>
            <a:pPr marL="0" lvl="1">
              <a:buClr>
                <a:srgbClr val="0070AD"/>
              </a:buClr>
              <a:buSzPts val="1200"/>
              <a:defRPr/>
            </a:pPr>
            <a:r>
              <a:rPr lang="en-US" sz="1200" b="1" dirty="0">
                <a:solidFill>
                  <a:srgbClr val="0070AD"/>
                </a:solidFill>
                <a:latin typeface="Verdana"/>
                <a:ea typeface="Verdana"/>
                <a:sym typeface="Verdana"/>
              </a:rPr>
              <a:t>Education Background</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US" sz="1000" b="0" i="0" u="none" strike="noStrike" kern="1200" cap="none" spc="0" normalizeH="0" baseline="0" noProof="0" dirty="0">
                <a:ln>
                  <a:noFill/>
                </a:ln>
                <a:solidFill>
                  <a:prstClr val="black"/>
                </a:solidFill>
                <a:effectLst/>
                <a:uLnTx/>
                <a:uFillTx/>
                <a:latin typeface="Verdana"/>
                <a:ea typeface="Verdana"/>
                <a:cs typeface="Verdana"/>
                <a:sym typeface="Verdana"/>
              </a:rPr>
              <a:t>Bachelor of Engineering (2005-2009)</a:t>
            </a:r>
          </a:p>
        </p:txBody>
      </p:sp>
      <p:cxnSp>
        <p:nvCxnSpPr>
          <p:cNvPr id="11" name="Straight Connector 10">
            <a:extLst>
              <a:ext uri="{FF2B5EF4-FFF2-40B4-BE49-F238E27FC236}">
                <a16:creationId xmlns:a16="http://schemas.microsoft.com/office/drawing/2014/main" id="{CC47D01F-F247-72F3-5D52-376F48AEC05B}"/>
              </a:ext>
            </a:extLst>
          </p:cNvPr>
          <p:cNvCxnSpPr>
            <a:cxnSpLocks/>
          </p:cNvCxnSpPr>
          <p:nvPr/>
        </p:nvCxnSpPr>
        <p:spPr>
          <a:xfrm>
            <a:off x="394830" y="949468"/>
            <a:ext cx="11456768" cy="0"/>
          </a:xfrm>
          <a:prstGeom prst="line">
            <a:avLst/>
          </a:prstGeom>
          <a:ln w="28575">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CE238F3-50A3-9BE9-C19D-E69E7665E75C}"/>
              </a:ext>
            </a:extLst>
          </p:cNvPr>
          <p:cNvSpPr txBox="1"/>
          <p:nvPr/>
        </p:nvSpPr>
        <p:spPr>
          <a:xfrm>
            <a:off x="4019055" y="204339"/>
            <a:ext cx="11283519" cy="590931"/>
          </a:xfrm>
          <a:prstGeom prst="rect">
            <a:avLst/>
          </a:prstGeom>
          <a:noFill/>
        </p:spPr>
        <p:txBody>
          <a:bodyPr wrap="square">
            <a:spAutoFit/>
          </a:bodyPr>
          <a:lstStyle>
            <a:lvl1pPr>
              <a:lnSpc>
                <a:spcPct val="90000"/>
              </a:lnSpc>
              <a:spcBef>
                <a:spcPct val="0"/>
              </a:spcBef>
              <a:buClr>
                <a:srgbClr val="232323"/>
              </a:buClr>
              <a:buSzPts val="2600"/>
              <a:buNone/>
              <a:defRPr sz="4400" b="1">
                <a:ea typeface="+mj-ea"/>
                <a:cs typeface="+mj-cs"/>
              </a:defRPr>
            </a:lvl1pPr>
          </a:lstStyle>
          <a:p>
            <a:r>
              <a:rPr lang="en-US" sz="3600" dirty="0">
                <a:latin typeface="Calibri "/>
              </a:rPr>
              <a:t>Ashok Soundararajan</a:t>
            </a:r>
            <a:endParaRPr lang="en-IN" sz="3600" dirty="0">
              <a:latin typeface="Calibri "/>
            </a:endParaRPr>
          </a:p>
        </p:txBody>
      </p:sp>
      <p:pic>
        <p:nvPicPr>
          <p:cNvPr id="14" name="Picture 13">
            <a:extLst>
              <a:ext uri="{FF2B5EF4-FFF2-40B4-BE49-F238E27FC236}">
                <a16:creationId xmlns:a16="http://schemas.microsoft.com/office/drawing/2014/main" id="{333F62FD-6D87-6E43-50F3-5195D521066A}"/>
              </a:ext>
            </a:extLst>
          </p:cNvPr>
          <p:cNvPicPr>
            <a:picLocks noChangeAspect="1"/>
          </p:cNvPicPr>
          <p:nvPr/>
        </p:nvPicPr>
        <p:blipFill>
          <a:blip r:embed="rId4"/>
          <a:stretch>
            <a:fillRect/>
          </a:stretch>
        </p:blipFill>
        <p:spPr>
          <a:xfrm>
            <a:off x="9249704" y="256697"/>
            <a:ext cx="2586644" cy="480764"/>
          </a:xfrm>
          <a:prstGeom prst="rect">
            <a:avLst/>
          </a:prstGeom>
        </p:spPr>
      </p:pic>
    </p:spTree>
    <p:extLst>
      <p:ext uri="{BB962C8B-B14F-4D97-AF65-F5344CB8AC3E}">
        <p14:creationId xmlns:p14="http://schemas.microsoft.com/office/powerpoint/2010/main" val="2880834153"/>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
          <a:extLst>
            <a:ext uri="{FF2B5EF4-FFF2-40B4-BE49-F238E27FC236}">
              <a16:creationId xmlns:a16="http://schemas.microsoft.com/office/drawing/2014/main" id="{3B007A50-A16C-D020-184A-7D84014B6356}"/>
            </a:ext>
          </a:extLst>
        </p:cNvPr>
        <p:cNvGrpSpPr/>
        <p:nvPr/>
      </p:nvGrpSpPr>
      <p:grpSpPr>
        <a:xfrm>
          <a:off x="0" y="0"/>
          <a:ext cx="0" cy="0"/>
          <a:chOff x="0" y="0"/>
          <a:chExt cx="0" cy="0"/>
        </a:xfrm>
      </p:grpSpPr>
      <p:sp>
        <p:nvSpPr>
          <p:cNvPr id="40" name="Google Shape;40;p1">
            <a:extLst>
              <a:ext uri="{FF2B5EF4-FFF2-40B4-BE49-F238E27FC236}">
                <a16:creationId xmlns:a16="http://schemas.microsoft.com/office/drawing/2014/main" id="{7EF82B1E-4162-723B-DE06-B10AE34A90CB}"/>
              </a:ext>
            </a:extLst>
          </p:cNvPr>
          <p:cNvSpPr/>
          <p:nvPr/>
        </p:nvSpPr>
        <p:spPr>
          <a:xfrm>
            <a:off x="1856013" y="942699"/>
            <a:ext cx="67485" cy="1472184"/>
          </a:xfrm>
          <a:prstGeom prst="rect">
            <a:avLst/>
          </a:prstGeom>
          <a:solidFill>
            <a:srgbClr val="7F7F7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prstClr val="black"/>
              </a:buClr>
              <a:buSzPts val="1600"/>
              <a:buFont typeface="Verdana"/>
              <a:buNone/>
              <a:tabLst/>
              <a:defRPr/>
            </a:pPr>
            <a:endParaRPr kumimoji="0" sz="1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41" name="Google Shape;41;p1">
            <a:extLst>
              <a:ext uri="{FF2B5EF4-FFF2-40B4-BE49-F238E27FC236}">
                <a16:creationId xmlns:a16="http://schemas.microsoft.com/office/drawing/2014/main" id="{6DCF209B-5229-B9F6-2573-9D23070FC705}"/>
              </a:ext>
            </a:extLst>
          </p:cNvPr>
          <p:cNvSpPr txBox="1"/>
          <p:nvPr/>
        </p:nvSpPr>
        <p:spPr>
          <a:xfrm>
            <a:off x="2200068" y="1060429"/>
            <a:ext cx="4112100" cy="9852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1100"/>
              <a:buFont typeface="Verdana"/>
              <a:buNone/>
              <a:tabLst/>
              <a:defRPr/>
            </a:pPr>
            <a:endParaRPr kumimoji="0" sz="1100" b="0"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0" marR="0" lvl="0" indent="0" algn="l" defTabSz="914400" rtl="0" eaLnBrk="1" fontAlgn="auto" latinLnBrk="0" hangingPunct="1">
              <a:lnSpc>
                <a:spcPct val="100000"/>
              </a:lnSpc>
              <a:spcBef>
                <a:spcPts val="800"/>
              </a:spcBef>
              <a:spcAft>
                <a:spcPts val="0"/>
              </a:spcAft>
              <a:buClrTx/>
              <a:buSzTx/>
              <a:buFontTx/>
              <a:buNone/>
              <a:tabLst/>
              <a:defRPr/>
            </a:pPr>
            <a:r>
              <a:rPr kumimoji="0" lang="en-IN" sz="1100" b="1" i="0" u="none" strike="noStrike" kern="1200" cap="none" spc="0" normalizeH="0" baseline="0" noProof="0" dirty="0">
                <a:ln>
                  <a:noFill/>
                </a:ln>
                <a:solidFill>
                  <a:srgbClr val="2B143D"/>
                </a:solidFill>
                <a:effectLst/>
                <a:uLnTx/>
                <a:uFillTx/>
                <a:latin typeface="Verdana"/>
                <a:ea typeface="Verdana"/>
                <a:cs typeface="Verdana"/>
                <a:sym typeface="Verdana"/>
              </a:rPr>
              <a:t>Role : </a:t>
            </a:r>
            <a:r>
              <a:rPr kumimoji="0" lang="en-US" sz="1100" b="1" i="0" u="none" strike="noStrike" kern="1200" cap="none" spc="0" normalizeH="0" baseline="0" noProof="0" dirty="0">
                <a:ln>
                  <a:noFill/>
                </a:ln>
                <a:solidFill>
                  <a:srgbClr val="2B143D"/>
                </a:solidFill>
                <a:effectLst/>
                <a:uLnTx/>
                <a:uFillTx/>
                <a:latin typeface="Verdana"/>
                <a:ea typeface="Verdana"/>
                <a:cs typeface="Verdana"/>
                <a:sym typeface="Verdana"/>
              </a:rPr>
              <a:t>Senior Consultant</a:t>
            </a:r>
            <a:endParaRPr kumimoji="0" sz="1100" b="1"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0" marR="0" lvl="0" indent="0" algn="l" defTabSz="914400" rtl="0" eaLnBrk="1" fontAlgn="auto" latinLnBrk="0" hangingPunct="1">
              <a:lnSpc>
                <a:spcPct val="100000"/>
              </a:lnSpc>
              <a:spcBef>
                <a:spcPts val="800"/>
              </a:spcBef>
              <a:spcAft>
                <a:spcPts val="0"/>
              </a:spcAft>
              <a:buClr>
                <a:srgbClr val="000000"/>
              </a:buClr>
              <a:buSzPts val="1100"/>
              <a:buFont typeface="Verdana"/>
              <a:buNone/>
              <a:tabLst/>
              <a:defRPr/>
            </a:pPr>
            <a:r>
              <a:rPr kumimoji="0" lang="en-IN" sz="1100" b="0" i="0" u="none" strike="noStrike" kern="1200" cap="none" spc="0" normalizeH="0" baseline="0" noProof="0" dirty="0">
                <a:ln>
                  <a:noFill/>
                </a:ln>
                <a:solidFill>
                  <a:srgbClr val="000000"/>
                </a:solidFill>
                <a:effectLst/>
                <a:uLnTx/>
                <a:uFillTx/>
                <a:latin typeface="Verdana"/>
                <a:ea typeface="Verdana"/>
                <a:cs typeface="Verdana"/>
                <a:sym typeface="Verdana"/>
              </a:rPr>
              <a:t>Nationality: Indian</a:t>
            </a:r>
            <a:endParaRPr kumimoji="0" sz="1100" b="0" i="0" u="none" strike="noStrike" kern="1200" cap="none" spc="0" normalizeH="0" baseline="0" noProof="0" dirty="0">
              <a:ln>
                <a:noFill/>
              </a:ln>
              <a:solidFill>
                <a:srgbClr val="000000"/>
              </a:solidFill>
              <a:effectLst/>
              <a:uLnTx/>
              <a:uFillTx/>
              <a:latin typeface="Verdana"/>
              <a:ea typeface="Verdana"/>
              <a:cs typeface="Verdana"/>
              <a:sym typeface="Verdana"/>
            </a:endParaRPr>
          </a:p>
          <a:p>
            <a:pPr marL="0" marR="0" lvl="0" indent="0" algn="l" defTabSz="914400" rtl="0" eaLnBrk="1" fontAlgn="auto" latinLnBrk="0" hangingPunct="1">
              <a:lnSpc>
                <a:spcPct val="100000"/>
              </a:lnSpc>
              <a:spcBef>
                <a:spcPts val="800"/>
              </a:spcBef>
              <a:spcAft>
                <a:spcPts val="0"/>
              </a:spcAft>
              <a:buClr>
                <a:prstClr val="black"/>
              </a:buClr>
              <a:buSzPts val="1100"/>
              <a:buFont typeface="Verdana"/>
              <a:buNone/>
              <a:tabLst/>
              <a:defRPr/>
            </a:pPr>
            <a:r>
              <a:rPr kumimoji="0" lang="en-IN" sz="1100" b="0" i="0" u="none" strike="noStrike" kern="1200" cap="none" spc="0" normalizeH="0" baseline="0" noProof="0" dirty="0">
                <a:ln>
                  <a:noFill/>
                </a:ln>
                <a:solidFill>
                  <a:prstClr val="black"/>
                </a:solidFill>
                <a:effectLst/>
                <a:uLnTx/>
                <a:uFillTx/>
                <a:latin typeface="Verdana"/>
                <a:ea typeface="Verdana"/>
                <a:cs typeface="Verdana"/>
                <a:sym typeface="Verdana"/>
              </a:rPr>
              <a:t>Languages: English, Tamil</a:t>
            </a:r>
            <a:endParaRPr kumimoji="0" sz="1100" b="0" i="0" u="none" strike="noStrike" kern="1200" cap="none" spc="0" normalizeH="0" baseline="0" noProof="0" dirty="0">
              <a:ln>
                <a:noFill/>
              </a:ln>
              <a:solidFill>
                <a:prstClr val="black"/>
              </a:solidFill>
              <a:effectLst/>
              <a:uLnTx/>
              <a:uFillTx/>
              <a:latin typeface="Verdana"/>
              <a:ea typeface="Verdana"/>
              <a:cs typeface="Verdana"/>
              <a:sym typeface="Verdana"/>
            </a:endParaRPr>
          </a:p>
        </p:txBody>
      </p:sp>
      <p:grpSp>
        <p:nvGrpSpPr>
          <p:cNvPr id="42" name="Google Shape;42;p1">
            <a:extLst>
              <a:ext uri="{FF2B5EF4-FFF2-40B4-BE49-F238E27FC236}">
                <a16:creationId xmlns:a16="http://schemas.microsoft.com/office/drawing/2014/main" id="{4E4DE755-440A-F59A-B0CF-BA2D99DC4521}"/>
              </a:ext>
            </a:extLst>
          </p:cNvPr>
          <p:cNvGrpSpPr/>
          <p:nvPr/>
        </p:nvGrpSpPr>
        <p:grpSpPr>
          <a:xfrm>
            <a:off x="589666" y="5054558"/>
            <a:ext cx="4560315" cy="569387"/>
            <a:chOff x="468649" y="4446937"/>
            <a:chExt cx="4560315" cy="569387"/>
          </a:xfrm>
        </p:grpSpPr>
        <p:sp>
          <p:nvSpPr>
            <p:cNvPr id="43" name="Google Shape;43;p1">
              <a:extLst>
                <a:ext uri="{FF2B5EF4-FFF2-40B4-BE49-F238E27FC236}">
                  <a16:creationId xmlns:a16="http://schemas.microsoft.com/office/drawing/2014/main" id="{E3E2A523-4CCA-286B-F852-C9BE1C6F32B3}"/>
                </a:ext>
              </a:extLst>
            </p:cNvPr>
            <p:cNvSpPr txBox="1"/>
            <p:nvPr/>
          </p:nvSpPr>
          <p:spPr>
            <a:xfrm>
              <a:off x="468649" y="4446937"/>
              <a:ext cx="2261851" cy="569387"/>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rPr>
                <a:t>Competencies</a:t>
              </a: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Lean Six Sigma</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AIAG Core Tools  </a:t>
              </a:r>
            </a:p>
          </p:txBody>
        </p:sp>
        <p:sp>
          <p:nvSpPr>
            <p:cNvPr id="44" name="Google Shape;44;p1">
              <a:extLst>
                <a:ext uri="{FF2B5EF4-FFF2-40B4-BE49-F238E27FC236}">
                  <a16:creationId xmlns:a16="http://schemas.microsoft.com/office/drawing/2014/main" id="{30F22DBB-1CB1-2952-D922-84C67836179D}"/>
                </a:ext>
              </a:extLst>
            </p:cNvPr>
            <p:cNvSpPr txBox="1"/>
            <p:nvPr/>
          </p:nvSpPr>
          <p:spPr>
            <a:xfrm>
              <a:off x="2767113" y="4474243"/>
              <a:ext cx="2261851" cy="538609"/>
            </a:xfrm>
            <a:prstGeom prst="rect">
              <a:avLst/>
            </a:prstGeom>
            <a:noFill/>
            <a:ln>
              <a:noFill/>
            </a:ln>
          </p:spPr>
          <p:txBody>
            <a:bodyPr spcFirstLastPara="1" wrap="square" lIns="0" tIns="0" rIns="0" bIns="0" anchor="t" anchorCtr="0">
              <a:spAutoFit/>
            </a:bodyPr>
            <a:lstStyle/>
            <a:p>
              <a:pPr marL="171450" marR="0" lvl="1" indent="-107950" algn="l" defTabSz="914400" rtl="0" eaLnBrk="1" fontAlgn="auto" latinLnBrk="0" hangingPunct="1">
                <a:lnSpc>
                  <a:spcPct val="100000"/>
                </a:lnSpc>
                <a:spcBef>
                  <a:spcPts val="0"/>
                </a:spcBef>
                <a:spcAft>
                  <a:spcPts val="0"/>
                </a:spcAft>
                <a:buClr>
                  <a:srgbClr val="0070AD"/>
                </a:buClr>
                <a:buSzPts val="1000"/>
                <a:buFont typeface="Noto Sans Symbols"/>
                <a:buNone/>
                <a:tabLst/>
                <a:defRPr/>
              </a:pPr>
              <a:endParaRPr kumimoji="0" sz="1000" b="0" i="0" u="none" strike="noStrike" kern="1200" cap="none" spc="0" normalizeH="0" baseline="0" noProof="0" dirty="0">
                <a:ln>
                  <a:noFill/>
                </a:ln>
                <a:solidFill>
                  <a:srgbClr val="2B143D"/>
                </a:solidFill>
                <a:effectLst/>
                <a:uLnTx/>
                <a:uFillTx/>
                <a:latin typeface="Verdana"/>
                <a:ea typeface="Verdana"/>
                <a:cs typeface="Verdana"/>
                <a:sym typeface="Verdana"/>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srgbClr val="000000"/>
                  </a:solidFill>
                  <a:effectLst/>
                  <a:uLnTx/>
                  <a:uFillTx/>
                  <a:latin typeface="Verdana"/>
                  <a:ea typeface="Verdana"/>
                  <a:cs typeface="Verdana"/>
                  <a:sym typeface="Verdana"/>
                </a:rPr>
                <a:t>Quality Management Systems</a:t>
              </a:r>
              <a:endParaRPr kumimoji="0" sz="1000" b="0" i="0" u="none" strike="noStrike" kern="1200" cap="none" spc="0" normalizeH="0" baseline="0" noProof="0" dirty="0">
                <a:ln>
                  <a:noFill/>
                </a:ln>
                <a:solidFill>
                  <a:srgbClr val="000000"/>
                </a:solidFill>
                <a:effectLst/>
                <a:uLnTx/>
                <a:uFillTx/>
                <a:latin typeface="Verdana"/>
                <a:ea typeface="Verdana"/>
                <a:cs typeface="Verdana"/>
                <a:sym typeface="Verdana"/>
              </a:endParaRP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Verdana"/>
                  <a:sym typeface="Verdana"/>
                </a:rPr>
                <a:t>Coach &amp; mentor trainees</a:t>
              </a:r>
            </a:p>
          </p:txBody>
        </p:sp>
      </p:grpSp>
      <p:sp>
        <p:nvSpPr>
          <p:cNvPr id="45" name="Google Shape;45;p1">
            <a:extLst>
              <a:ext uri="{FF2B5EF4-FFF2-40B4-BE49-F238E27FC236}">
                <a16:creationId xmlns:a16="http://schemas.microsoft.com/office/drawing/2014/main" id="{F09DCDCD-EDDC-D3C5-33AA-6D5AA7034C02}"/>
              </a:ext>
            </a:extLst>
          </p:cNvPr>
          <p:cNvSpPr txBox="1"/>
          <p:nvPr/>
        </p:nvSpPr>
        <p:spPr>
          <a:xfrm>
            <a:off x="6804591" y="5054558"/>
            <a:ext cx="6570073" cy="761747"/>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0"/>
              </a:spcBef>
              <a:spcAft>
                <a:spcPts val="0"/>
              </a:spcAft>
              <a:buClr>
                <a:srgbClr val="0070AD"/>
              </a:buClr>
              <a:buSzPts val="1200"/>
              <a:buFontTx/>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mn-cs"/>
                <a:sym typeface="Verdana"/>
              </a:rPr>
              <a:t>Expertise </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mn-cs"/>
              </a:rPr>
              <a:t>Certified ISO 9001:2015 Lead Auditor Course (TUV SUD)</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IN" sz="1000" b="0" i="0" u="none" strike="noStrike" kern="1200" cap="none" spc="0" normalizeH="0" baseline="0" noProof="0" dirty="0">
                <a:ln>
                  <a:noFill/>
                </a:ln>
                <a:solidFill>
                  <a:prstClr val="black"/>
                </a:solidFill>
                <a:effectLst/>
                <a:uLnTx/>
                <a:uFillTx/>
                <a:latin typeface="Verdana"/>
                <a:ea typeface="Verdana"/>
                <a:cs typeface="+mn-cs"/>
              </a:rPr>
              <a:t>Sig Sigma Green Belt</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endParaRPr kumimoji="0" sz="1000" b="0" i="0" u="none" strike="noStrike" kern="1200" cap="none" spc="0" normalizeH="0" baseline="0" noProof="0" dirty="0">
              <a:ln>
                <a:noFill/>
              </a:ln>
              <a:solidFill>
                <a:prstClr val="black"/>
              </a:solidFill>
              <a:effectLst/>
              <a:uLnTx/>
              <a:uFillTx/>
              <a:latin typeface="Verdana"/>
              <a:ea typeface="Verdana"/>
              <a:cs typeface="Verdana"/>
              <a:sym typeface="Verdana"/>
            </a:endParaRPr>
          </a:p>
        </p:txBody>
      </p:sp>
      <p:cxnSp>
        <p:nvCxnSpPr>
          <p:cNvPr id="46" name="Google Shape;46;p1">
            <a:extLst>
              <a:ext uri="{FF2B5EF4-FFF2-40B4-BE49-F238E27FC236}">
                <a16:creationId xmlns:a16="http://schemas.microsoft.com/office/drawing/2014/main" id="{B627D8E3-1780-6240-1025-57B261967AD2}"/>
              </a:ext>
            </a:extLst>
          </p:cNvPr>
          <p:cNvCxnSpPr/>
          <p:nvPr/>
        </p:nvCxnSpPr>
        <p:spPr>
          <a:xfrm>
            <a:off x="6629400" y="955762"/>
            <a:ext cx="0" cy="4917380"/>
          </a:xfrm>
          <a:prstGeom prst="straightConnector1">
            <a:avLst/>
          </a:prstGeom>
          <a:noFill/>
          <a:ln w="19050" cap="flat" cmpd="sng">
            <a:solidFill>
              <a:schemeClr val="tx1"/>
            </a:solidFill>
            <a:prstDash val="solid"/>
            <a:miter lim="800000"/>
            <a:headEnd type="none" w="sm" len="sm"/>
            <a:tailEnd type="none" w="sm" len="sm"/>
          </a:ln>
        </p:spPr>
      </p:cxnSp>
      <p:sp>
        <p:nvSpPr>
          <p:cNvPr id="47" name="Google Shape;47;p1">
            <a:extLst>
              <a:ext uri="{FF2B5EF4-FFF2-40B4-BE49-F238E27FC236}">
                <a16:creationId xmlns:a16="http://schemas.microsoft.com/office/drawing/2014/main" id="{67EBF545-F1BF-9CB7-3E5D-D41E5FA2CBE4}"/>
              </a:ext>
            </a:extLst>
          </p:cNvPr>
          <p:cNvSpPr txBox="1"/>
          <p:nvPr/>
        </p:nvSpPr>
        <p:spPr>
          <a:xfrm>
            <a:off x="579033" y="2405522"/>
            <a:ext cx="5567696" cy="2105705"/>
          </a:xfrm>
          <a:prstGeom prst="rect">
            <a:avLst/>
          </a:prstGeom>
          <a:noFill/>
          <a:ln>
            <a:noFill/>
          </a:ln>
        </p:spPr>
        <p:txBody>
          <a:bodyPr spcFirstLastPara="1" wrap="square" lIns="0" tIns="0" rIns="0" bIns="0" anchor="t" anchorCtr="0">
            <a:spAutoFit/>
          </a:bodyPr>
          <a:lstStyle/>
          <a:p>
            <a:pPr marL="0" marR="0" lvl="1" indent="0" algn="l" defTabSz="914400" rtl="0" eaLnBrk="1" fontAlgn="auto" latinLnBrk="0" hangingPunct="1">
              <a:lnSpc>
                <a:spcPct val="100000"/>
              </a:lnSpc>
              <a:spcBef>
                <a:spcPts val="200"/>
              </a:spcBef>
              <a:spcAft>
                <a:spcPts val="0"/>
              </a:spcAft>
              <a:buClrTx/>
              <a:buSzTx/>
              <a:buFontTx/>
              <a:buNone/>
              <a:tabLst/>
              <a:defRPr/>
            </a:pPr>
            <a:endParaRPr kumimoji="0" sz="1000" b="1" i="0" u="none" strike="noStrike" kern="1200" cap="none" spc="0" normalizeH="0" baseline="0" noProof="0" dirty="0">
              <a:ln>
                <a:noFill/>
              </a:ln>
              <a:solidFill>
                <a:prstClr val="black"/>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200"/>
              </a:spcBef>
              <a:spcAft>
                <a:spcPts val="0"/>
              </a:spcAft>
              <a:buClrTx/>
              <a:buSzTx/>
              <a:buFontTx/>
              <a:buNone/>
              <a:tabLst/>
              <a:defRPr/>
            </a:pPr>
            <a:endParaRPr kumimoji="0" sz="1000" b="1" i="0" u="none" strike="noStrike" kern="1200" cap="none" spc="0" normalizeH="0" baseline="0" noProof="0" dirty="0">
              <a:ln>
                <a:noFill/>
              </a:ln>
              <a:solidFill>
                <a:prstClr val="black"/>
              </a:solidFill>
              <a:effectLst/>
              <a:uLnTx/>
              <a:uFillTx/>
              <a:latin typeface="Verdana"/>
              <a:ea typeface="Verdana"/>
              <a:cs typeface="Verdana"/>
              <a:sym typeface="Verdana"/>
            </a:endParaRPr>
          </a:p>
          <a:p>
            <a:pPr marL="171450" indent="-171450" algn="just" defTabSz="621792">
              <a:spcAft>
                <a:spcPts val="680"/>
              </a:spcAft>
              <a:buFont typeface="Arial" panose="020B0604020202020204" pitchFamily="34" charset="0"/>
              <a:buChar char="•"/>
              <a:defRPr/>
            </a:pPr>
            <a:r>
              <a:rPr lang="en-US" sz="1200" dirty="0">
                <a:solidFill>
                  <a:srgbClr val="222222"/>
                </a:solidFill>
                <a:latin typeface="Calibri "/>
              </a:rPr>
              <a:t>Over a decade of experience in Quality Engineering, Problem solving technique, Continual improvement, Supply chain management.</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
                <a:ea typeface="+mn-ea"/>
                <a:cs typeface="+mn-cs"/>
              </a:rPr>
              <a:t>Comprehension of the needs of prominent OEMs such as Commercial, Passenger car segment and other automotive suppliers to enhance their supplier’s capabilities, strengthening process control, quality assurance processes and overall quality strategy</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
                <a:ea typeface="+mn-ea"/>
                <a:cs typeface="+mn-cs"/>
              </a:rPr>
              <a:t>Extensive experience in sheet metal and fabrication, casting and machining, specializing in press shop operations and welding process. Proficient in tool design, Poka yoke implementation and resolving quality issues.</a:t>
            </a:r>
          </a:p>
        </p:txBody>
      </p:sp>
      <p:cxnSp>
        <p:nvCxnSpPr>
          <p:cNvPr id="48" name="Google Shape;48;p1">
            <a:extLst>
              <a:ext uri="{FF2B5EF4-FFF2-40B4-BE49-F238E27FC236}">
                <a16:creationId xmlns:a16="http://schemas.microsoft.com/office/drawing/2014/main" id="{6D055F9D-098E-6C94-1F03-3EB35C93FAC5}"/>
              </a:ext>
            </a:extLst>
          </p:cNvPr>
          <p:cNvCxnSpPr>
            <a:cxnSpLocks/>
          </p:cNvCxnSpPr>
          <p:nvPr/>
        </p:nvCxnSpPr>
        <p:spPr>
          <a:xfrm>
            <a:off x="6867127" y="4864447"/>
            <a:ext cx="4765155" cy="0"/>
          </a:xfrm>
          <a:prstGeom prst="straightConnector1">
            <a:avLst/>
          </a:prstGeom>
          <a:noFill/>
          <a:ln w="19050" cap="flat" cmpd="sng">
            <a:solidFill>
              <a:schemeClr val="tx1"/>
            </a:solidFill>
            <a:prstDash val="solid"/>
            <a:miter lim="800000"/>
            <a:headEnd type="none" w="sm" len="sm"/>
            <a:tailEnd type="none" w="sm" len="sm"/>
          </a:ln>
        </p:spPr>
      </p:cxnSp>
      <p:cxnSp>
        <p:nvCxnSpPr>
          <p:cNvPr id="49" name="Google Shape;49;p1">
            <a:extLst>
              <a:ext uri="{FF2B5EF4-FFF2-40B4-BE49-F238E27FC236}">
                <a16:creationId xmlns:a16="http://schemas.microsoft.com/office/drawing/2014/main" id="{F139BA02-2B5D-E81D-8210-84B4F6384D57}"/>
              </a:ext>
            </a:extLst>
          </p:cNvPr>
          <p:cNvCxnSpPr/>
          <p:nvPr/>
        </p:nvCxnSpPr>
        <p:spPr>
          <a:xfrm>
            <a:off x="589666" y="4864447"/>
            <a:ext cx="5627351" cy="0"/>
          </a:xfrm>
          <a:prstGeom prst="straightConnector1">
            <a:avLst/>
          </a:prstGeom>
          <a:noFill/>
          <a:ln w="19050" cap="flat" cmpd="sng">
            <a:solidFill>
              <a:schemeClr val="tx1"/>
            </a:solidFill>
            <a:prstDash val="solid"/>
            <a:miter lim="800000"/>
            <a:headEnd type="none" w="sm" len="sm"/>
            <a:tailEnd type="none" w="sm" len="sm"/>
          </a:ln>
        </p:spPr>
      </p:cxnSp>
      <p:sp>
        <p:nvSpPr>
          <p:cNvPr id="50" name="Google Shape;50;p1">
            <a:extLst>
              <a:ext uri="{FF2B5EF4-FFF2-40B4-BE49-F238E27FC236}">
                <a16:creationId xmlns:a16="http://schemas.microsoft.com/office/drawing/2014/main" id="{CC0DBAE1-A7CB-7F67-DCA0-6DB5D6DCB5F9}"/>
              </a:ext>
            </a:extLst>
          </p:cNvPr>
          <p:cNvSpPr txBox="1"/>
          <p:nvPr/>
        </p:nvSpPr>
        <p:spPr>
          <a:xfrm>
            <a:off x="6859608" y="1218524"/>
            <a:ext cx="5069448" cy="2626360"/>
          </a:xfrm>
          <a:prstGeom prst="rect">
            <a:avLst/>
          </a:prstGeom>
          <a:noFill/>
          <a:ln>
            <a:noFill/>
          </a:ln>
        </p:spPr>
        <p:txBody>
          <a:bodyPr spcFirstLastPara="1" wrap="square" lIns="0" tIns="0" rIns="0" bIns="0" anchor="t" anchorCtr="0">
            <a:spAutoFit/>
          </a:bodyPr>
          <a:lstStyle>
            <a:defPPr>
              <a:defRPr lang="en-US"/>
            </a:defPPr>
            <a:lvl1pPr marL="171450" marR="0" lvl="0" indent="-171450" algn="just" defTabSz="621792" fontAlgn="auto">
              <a:spcBef>
                <a:spcPts val="0"/>
              </a:spcBef>
              <a:spcAft>
                <a:spcPts val="680"/>
              </a:spcAft>
              <a:buClrTx/>
              <a:buSzTx/>
              <a:buFont typeface="Arial" panose="020B0604020202020204" pitchFamily="34" charset="0"/>
              <a:buChar char="•"/>
              <a:tabLst/>
              <a:defRPr kumimoji="0" sz="1200" b="0" i="0" u="none" strike="noStrike" cap="none" spc="0" normalizeH="0" baseline="0">
                <a:ln>
                  <a:noFill/>
                </a:ln>
                <a:solidFill>
                  <a:srgbClr val="222222"/>
                </a:solidFill>
                <a:effectLst/>
                <a:uLnTx/>
                <a:uFillTx/>
              </a:defRPr>
            </a:lvl1pPr>
            <a:lvl2pPr marL="0" marR="0" lvl="1" indent="0" fontAlgn="auto">
              <a:lnSpc>
                <a:spcPct val="100000"/>
              </a:lnSpc>
              <a:spcBef>
                <a:spcPts val="0"/>
              </a:spcBef>
              <a:spcAft>
                <a:spcPts val="0"/>
              </a:spcAft>
              <a:buClrTx/>
              <a:buSzTx/>
              <a:buFontTx/>
              <a:buNone/>
              <a:tabLst/>
              <a:defRPr kumimoji="0" sz="1200" b="1" i="0" u="none" strike="noStrike" cap="none" spc="0" normalizeH="0" baseline="0">
                <a:ln>
                  <a:noFill/>
                </a:ln>
                <a:solidFill>
                  <a:srgbClr val="0070AD"/>
                </a:solidFill>
                <a:effectLst/>
                <a:uLnTx/>
                <a:uFillTx/>
                <a:latin typeface="Verdana"/>
                <a:ea typeface="Verdana"/>
                <a:cs typeface="Verdana"/>
              </a:defRPr>
            </a:lvl2pPr>
          </a:lstStyle>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endParaRPr>
          </a:p>
          <a:p>
            <a:pPr marL="0" marR="0" lvl="1" indent="0" algn="l" defTabSz="914400" rtl="0" eaLnBrk="1" fontAlgn="auto" latinLnBrk="0" hangingPunct="1">
              <a:lnSpc>
                <a:spcPct val="100000"/>
              </a:lnSpc>
              <a:spcBef>
                <a:spcPts val="200"/>
              </a:spcBef>
              <a:spcAft>
                <a:spcPts val="0"/>
              </a:spcAft>
              <a:buClr>
                <a:srgbClr val="0070AD"/>
              </a:buClr>
              <a:buSzPts val="1200"/>
              <a:buFont typeface="Verdana"/>
              <a:buNone/>
              <a:tabLst/>
              <a:defRPr/>
            </a:pPr>
            <a:r>
              <a:rPr kumimoji="0" lang="en-IN" sz="1200" b="1" i="0" u="none" strike="noStrike" kern="1200" cap="none" spc="0" normalizeH="0" baseline="0" noProof="0" dirty="0">
                <a:ln>
                  <a:noFill/>
                </a:ln>
                <a:solidFill>
                  <a:srgbClr val="0070AD"/>
                </a:solidFill>
                <a:effectLst/>
                <a:uLnTx/>
                <a:uFillTx/>
                <a:latin typeface="Verdana"/>
                <a:ea typeface="Verdana"/>
                <a:cs typeface="Verdana"/>
                <a:sym typeface="Verdana"/>
              </a:rPr>
              <a:t>Professional Experience</a:t>
            </a:r>
          </a:p>
          <a:p>
            <a:pPr marL="0" marR="0" lvl="1" indent="0" algn="l" defTabSz="914400" rtl="0" eaLnBrk="1" fontAlgn="auto" latinLnBrk="0" hangingPunct="1">
              <a:lnSpc>
                <a:spcPct val="100000"/>
              </a:lnSpc>
              <a:spcBef>
                <a:spcPts val="200"/>
              </a:spcBef>
              <a:spcAft>
                <a:spcPts val="0"/>
              </a:spcAft>
              <a:buClr>
                <a:srgbClr val="0070AD"/>
              </a:buClr>
              <a:buSzPts val="1200"/>
              <a:buFont typeface="Verdana"/>
              <a:buNone/>
              <a:tabLst/>
              <a:defRPr/>
            </a:pPr>
            <a:endParaRPr kumimoji="0" lang="en-IN" sz="1200" b="1" i="0" u="none" strike="noStrike" kern="1200" cap="none" spc="0" normalizeH="0" baseline="0" noProof="0" dirty="0">
              <a:ln>
                <a:noFill/>
              </a:ln>
              <a:solidFill>
                <a:srgbClr val="0070AD"/>
              </a:solidFill>
              <a:effectLst/>
              <a:uLnTx/>
              <a:uFillTx/>
              <a:latin typeface="Verdana"/>
              <a:ea typeface="Verdana"/>
              <a:sym typeface="Verdana"/>
            </a:endParaRP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Extensive experience in providing training to individuals on the shop floor, focusing on good manufacturing practices, team building, and leadership skills.</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Implemented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Lean manufacturing practices in sheet metal </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commodities and industries. </a:t>
            </a: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lang="en-US" dirty="0">
                <a:latin typeface="Calibri" panose="020F0502020204030204"/>
              </a:rPr>
              <a:t>Vendor development and monitor the supply chain strategy, </a:t>
            </a:r>
            <a:r>
              <a:rPr lang="en-US" b="0" i="0" dirty="0">
                <a:solidFill>
                  <a:srgbClr val="333E49"/>
                </a:solidFill>
                <a:effectLst/>
                <a:latin typeface="proxima-nova"/>
              </a:rPr>
              <a:t>to improve the </a:t>
            </a:r>
            <a:r>
              <a:rPr lang="en-US" b="1" i="0" dirty="0">
                <a:solidFill>
                  <a:srgbClr val="333E49"/>
                </a:solidFill>
                <a:effectLst/>
                <a:latin typeface="proxima-nova"/>
              </a:rPr>
              <a:t>productivity and efficiency, reduce costs</a:t>
            </a:r>
            <a:r>
              <a:rPr lang="en-US" b="0" i="0" dirty="0">
                <a:solidFill>
                  <a:srgbClr val="333E49"/>
                </a:solidFill>
                <a:effectLst/>
                <a:latin typeface="proxima-nova"/>
              </a:rPr>
              <a:t> while securing high quality material for their company.</a:t>
            </a:r>
            <a:endPar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endParaRPr>
          </a:p>
          <a:p>
            <a:pPr marL="171450" marR="0" lvl="0" indent="-171450" algn="just" defTabSz="621792" rtl="0" eaLnBrk="1" fontAlgn="auto" latinLnBrk="0" hangingPunct="1">
              <a:lnSpc>
                <a:spcPct val="100000"/>
              </a:lnSpc>
              <a:spcBef>
                <a:spcPts val="0"/>
              </a:spcBef>
              <a:spcAft>
                <a:spcPts val="68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Trained over </a:t>
            </a:r>
            <a:r>
              <a:rPr lang="en-US" dirty="0">
                <a:latin typeface="Calibri" panose="020F0502020204030204"/>
              </a:rPr>
              <a:t>1</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00+ Engineers </a:t>
            </a:r>
            <a:r>
              <a:rPr kumimoji="0" lang="en-US" sz="1200" b="1" i="0" u="none" strike="noStrike" kern="1200" cap="none" spc="0" normalizeH="0" baseline="0" noProof="0" dirty="0">
                <a:ln>
                  <a:noFill/>
                </a:ln>
                <a:solidFill>
                  <a:srgbClr val="222222"/>
                </a:solidFill>
                <a:effectLst/>
                <a:uLnTx/>
                <a:uFillTx/>
                <a:latin typeface="Calibri" panose="020F0502020204030204"/>
                <a:ea typeface="+mn-ea"/>
                <a:cs typeface="+mn-cs"/>
              </a:rPr>
              <a:t>in AIAG Core Tools </a:t>
            </a:r>
            <a:r>
              <a:rPr kumimoji="0" lang="en-US" sz="1200" b="0" i="0" u="none" strike="noStrike" kern="1200" cap="none" spc="0" normalizeH="0" baseline="0" noProof="0" dirty="0">
                <a:ln>
                  <a:noFill/>
                </a:ln>
                <a:solidFill>
                  <a:srgbClr val="222222"/>
                </a:solidFill>
                <a:effectLst/>
                <a:uLnTx/>
                <a:uFillTx/>
                <a:latin typeface="Calibri" panose="020F0502020204030204"/>
                <a:ea typeface="+mn-ea"/>
                <a:cs typeface="+mn-cs"/>
              </a:rPr>
              <a:t>(Study of drawings, GD&amp;T, Core tools and Problem solving)</a:t>
            </a:r>
          </a:p>
        </p:txBody>
      </p:sp>
      <p:sp>
        <p:nvSpPr>
          <p:cNvPr id="5" name="TextBox 4">
            <a:extLst>
              <a:ext uri="{FF2B5EF4-FFF2-40B4-BE49-F238E27FC236}">
                <a16:creationId xmlns:a16="http://schemas.microsoft.com/office/drawing/2014/main" id="{856C3B16-385D-164F-01D3-29AE4B05CE7F}"/>
              </a:ext>
            </a:extLst>
          </p:cNvPr>
          <p:cNvSpPr txBox="1"/>
          <p:nvPr/>
        </p:nvSpPr>
        <p:spPr>
          <a:xfrm>
            <a:off x="534496" y="112829"/>
            <a:ext cx="11283519" cy="58477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2"/>
                </a:solidFill>
                <a:effectLst/>
                <a:uLnTx/>
                <a:uFillTx/>
                <a:latin typeface="Aptos" panose="020B0004020202020204" pitchFamily="34" charset="0"/>
                <a:ea typeface="+mn-ea"/>
                <a:cs typeface="Arial" panose="020B0604020202020204" pitchFamily="34" charset="0"/>
              </a:rPr>
              <a:t>Ramkumar S</a:t>
            </a:r>
            <a:endParaRPr kumimoji="0" lang="en-IN" sz="3200" b="1" i="0" u="none" strike="noStrike" kern="1200" cap="none" spc="0" normalizeH="0" baseline="0" noProof="0" dirty="0">
              <a:ln>
                <a:noFill/>
              </a:ln>
              <a:solidFill>
                <a:schemeClr val="tx2"/>
              </a:solidFill>
              <a:effectLst/>
              <a:uLnTx/>
              <a:uFillTx/>
              <a:latin typeface="Aptos" panose="020B0004020202020204" pitchFamily="34" charset="0"/>
              <a:ea typeface="+mn-ea"/>
              <a:cs typeface="Arial" panose="020B0604020202020204" pitchFamily="34" charset="0"/>
            </a:endParaRPr>
          </a:p>
        </p:txBody>
      </p:sp>
      <p:pic>
        <p:nvPicPr>
          <p:cNvPr id="9" name="Picture 8">
            <a:extLst>
              <a:ext uri="{FF2B5EF4-FFF2-40B4-BE49-F238E27FC236}">
                <a16:creationId xmlns:a16="http://schemas.microsoft.com/office/drawing/2014/main" id="{41D91D97-2685-24DA-25A0-A5DE33B18586}"/>
              </a:ext>
            </a:extLst>
          </p:cNvPr>
          <p:cNvPicPr>
            <a:picLocks noChangeAspect="1"/>
          </p:cNvPicPr>
          <p:nvPr/>
        </p:nvPicPr>
        <p:blipFill>
          <a:blip r:embed="rId3"/>
          <a:stretch>
            <a:fillRect/>
          </a:stretch>
        </p:blipFill>
        <p:spPr>
          <a:xfrm>
            <a:off x="9394332" y="182742"/>
            <a:ext cx="2586644" cy="480764"/>
          </a:xfrm>
          <a:prstGeom prst="rect">
            <a:avLst/>
          </a:prstGeom>
        </p:spPr>
      </p:pic>
      <p:sp>
        <p:nvSpPr>
          <p:cNvPr id="3" name="TextBox 2">
            <a:extLst>
              <a:ext uri="{FF2B5EF4-FFF2-40B4-BE49-F238E27FC236}">
                <a16:creationId xmlns:a16="http://schemas.microsoft.com/office/drawing/2014/main" id="{43F5E06C-EE4D-214E-D1E0-64C86E9E8F41}"/>
              </a:ext>
            </a:extLst>
          </p:cNvPr>
          <p:cNvSpPr txBox="1"/>
          <p:nvPr/>
        </p:nvSpPr>
        <p:spPr>
          <a:xfrm>
            <a:off x="467545" y="5828572"/>
            <a:ext cx="6701882" cy="469359"/>
          </a:xfrm>
          <a:prstGeom prst="rect">
            <a:avLst/>
          </a:prstGeom>
          <a:noFill/>
        </p:spPr>
        <p:txBody>
          <a:bodyPr wrap="square">
            <a:spAutoFit/>
          </a:bodyPr>
          <a:lstStyle/>
          <a:p>
            <a:pPr marL="0" lvl="1">
              <a:buClr>
                <a:srgbClr val="0070AD"/>
              </a:buClr>
              <a:buSzPts val="1200"/>
              <a:defRPr/>
            </a:pPr>
            <a:r>
              <a:rPr lang="en-US" sz="1200" b="1" dirty="0">
                <a:solidFill>
                  <a:srgbClr val="0070AD"/>
                </a:solidFill>
                <a:latin typeface="Verdana"/>
                <a:ea typeface="Verdana"/>
                <a:sym typeface="Verdana"/>
              </a:rPr>
              <a:t>Education Background</a:t>
            </a:r>
          </a:p>
          <a:p>
            <a:pPr marL="171450" marR="0" lvl="1" indent="-171450" algn="l" defTabSz="914400" rtl="0" eaLnBrk="1" fontAlgn="auto" latinLnBrk="0" hangingPunct="1">
              <a:lnSpc>
                <a:spcPct val="100000"/>
              </a:lnSpc>
              <a:spcBef>
                <a:spcPts val="300"/>
              </a:spcBef>
              <a:spcAft>
                <a:spcPts val="0"/>
              </a:spcAft>
              <a:buClr>
                <a:srgbClr val="0070AD"/>
              </a:buClr>
              <a:buSzPts val="1000"/>
              <a:buFont typeface="Noto Sans Symbols"/>
              <a:buChar char="▪"/>
              <a:tabLst/>
              <a:defRPr/>
            </a:pPr>
            <a:r>
              <a:rPr kumimoji="0" lang="en-US" sz="1000" b="0" i="0" u="none" strike="noStrike" kern="1200" cap="none" spc="0" normalizeH="0" baseline="0" noProof="0" dirty="0">
                <a:ln>
                  <a:noFill/>
                </a:ln>
                <a:solidFill>
                  <a:prstClr val="black"/>
                </a:solidFill>
                <a:effectLst/>
                <a:uLnTx/>
                <a:uFillTx/>
                <a:latin typeface="Verdana"/>
                <a:ea typeface="Verdana"/>
                <a:cs typeface="Verdana"/>
                <a:sym typeface="Verdana"/>
              </a:rPr>
              <a:t>Bachelor of Mechanical Engineering </a:t>
            </a:r>
          </a:p>
        </p:txBody>
      </p:sp>
      <p:pic>
        <p:nvPicPr>
          <p:cNvPr id="2" name="Picture 1">
            <a:extLst>
              <a:ext uri="{FF2B5EF4-FFF2-40B4-BE49-F238E27FC236}">
                <a16:creationId xmlns:a16="http://schemas.microsoft.com/office/drawing/2014/main" id="{6F68C3EB-F12D-3E54-1281-9E65A93B46CE}"/>
              </a:ext>
            </a:extLst>
          </p:cNvPr>
          <p:cNvPicPr>
            <a:picLocks noChangeAspect="1"/>
          </p:cNvPicPr>
          <p:nvPr/>
        </p:nvPicPr>
        <p:blipFill>
          <a:blip r:embed="rId4"/>
          <a:stretch>
            <a:fillRect/>
          </a:stretch>
        </p:blipFill>
        <p:spPr>
          <a:xfrm>
            <a:off x="589667" y="957245"/>
            <a:ext cx="1214230" cy="1460634"/>
          </a:xfrm>
          <a:prstGeom prst="rect">
            <a:avLst/>
          </a:prstGeom>
        </p:spPr>
      </p:pic>
    </p:spTree>
    <p:extLst>
      <p:ext uri="{BB962C8B-B14F-4D97-AF65-F5344CB8AC3E}">
        <p14:creationId xmlns:p14="http://schemas.microsoft.com/office/powerpoint/2010/main" val="3032101397"/>
      </p:ext>
    </p:extLst>
  </p:cSld>
  <p:clrMapOvr>
    <a:masterClrMapping/>
  </p:clrMapOvr>
  <p:transition spd="slow">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16411253_LW_v2" id="{C590A786-F65F-42F6-9E48-12C78E3C86B3}" vid="{FEE92C9D-6350-4ECD-87A4-004D12BB2B19}"/>
    </a:ext>
  </a:extLst>
</a:theme>
</file>

<file path=ppt/theme/theme2.xml><?xml version="1.0" encoding="utf-8"?>
<a:theme xmlns:a="http://schemas.openxmlformats.org/drawingml/2006/main" name="4_SQ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Q Theme" id="{AB2CBA8D-BDB5-48FB-B4A4-F0798826A9FB}" vid="{AD44D86A-3D7E-4BEA-AEC0-40BCD81DBF7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purl.org/dc/terms/"/>
    <ds:schemaRef ds:uri="http://purl.org/dc/dcmitype/"/>
    <ds:schemaRef ds:uri="http://schemas.microsoft.com/office/2006/documentManagement/types"/>
    <ds:schemaRef ds:uri="16c05727-aa75-4e4a-9b5f-8a80a1165891"/>
    <ds:schemaRef ds:uri="http://schemas.microsoft.com/office/2006/metadata/properties"/>
    <ds:schemaRef ds:uri="http://purl.org/dc/elements/1.1/"/>
    <ds:schemaRef ds:uri="http://www.w3.org/XML/1998/namespace"/>
    <ds:schemaRef ds:uri="http://schemas.microsoft.com/office/infopath/2007/PartnerControls"/>
    <ds:schemaRef ds:uri="http://schemas.openxmlformats.org/package/2006/metadata/core-propertie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Geometric presentation</Template>
  <TotalTime>13802</TotalTime>
  <Words>1030</Words>
  <Application>Microsoft Office PowerPoint</Application>
  <PresentationFormat>Widescreen</PresentationFormat>
  <Paragraphs>124</Paragraphs>
  <Slides>9</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vt:i4>
      </vt:variant>
    </vt:vector>
  </HeadingPairs>
  <TitlesOfParts>
    <vt:vector size="21" baseType="lpstr">
      <vt:lpstr>Aptos</vt:lpstr>
      <vt:lpstr>Arial</vt:lpstr>
      <vt:lpstr>Calibri</vt:lpstr>
      <vt:lpstr>Calibri </vt:lpstr>
      <vt:lpstr>Calibri Light</vt:lpstr>
      <vt:lpstr>Inter</vt:lpstr>
      <vt:lpstr>Noto Sans Symbols</vt:lpstr>
      <vt:lpstr>proxima-nova</vt:lpstr>
      <vt:lpstr>Verdana</vt:lpstr>
      <vt:lpstr>Wingdings</vt:lpstr>
      <vt:lpstr>Office Theme</vt:lpstr>
      <vt:lpstr>4_SQ Theme</vt:lpstr>
      <vt:lpstr>Website Additional Content Inputs </vt:lpstr>
      <vt:lpstr>PowerPoint Presentation</vt:lpstr>
      <vt:lpstr>PowerPoint Presentation</vt:lpstr>
      <vt:lpstr>PowerPoint Presentation</vt:lpstr>
      <vt:lpstr>PowerPoint Presentation</vt:lpstr>
      <vt:lpstr>Consultant Profile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Annual Review</dc:title>
  <dc:creator>BTO</dc:creator>
  <cp:lastModifiedBy>Ashok Soundararajan</cp:lastModifiedBy>
  <cp:revision>982</cp:revision>
  <cp:lastPrinted>2024-07-24T05:07:08Z</cp:lastPrinted>
  <dcterms:created xsi:type="dcterms:W3CDTF">2024-03-24T05:20:25Z</dcterms:created>
  <dcterms:modified xsi:type="dcterms:W3CDTF">2026-01-26T11:35:11Z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